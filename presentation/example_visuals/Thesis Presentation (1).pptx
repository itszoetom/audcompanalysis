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Times New Roman MT" charset="1" panose="02030502070405020303"/>
      <p:regular r:id="rId23"/>
    </p:embeddedFont>
    <p:embeddedFont>
      <p:font typeface="DM Sans Bold" charset="1" panose="00000000000000000000"/>
      <p:regular r:id="rId24"/>
    </p:embeddedFont>
    <p:embeddedFont>
      <p:font typeface="Inter" charset="1" panose="02000503000000020004"/>
      <p:regular r:id="rId25"/>
    </p:embeddedFont>
    <p:embeddedFont>
      <p:font typeface="JetBrains Mono" charset="1" panose="02010509020102050004"/>
      <p:regular r:id="rId26"/>
    </p:embeddedFont>
    <p:embeddedFont>
      <p:font typeface="JetBrains Mono Bold" charset="1" panose="020108090301020500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https://doi.org/10.3389/fncir.2018.00083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jpeg" Type="http://schemas.openxmlformats.org/officeDocument/2006/relationships/image"/><Relationship Id="rId5" Target="../media/image2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0" y="0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82134" y="0"/>
            <a:ext cx="2871804" cy="709475"/>
            <a:chOff x="0" y="0"/>
            <a:chExt cx="767676" cy="18965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663322" y="0"/>
            <a:ext cx="2871804" cy="709475"/>
            <a:chOff x="0" y="0"/>
            <a:chExt cx="767676" cy="1896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10800000">
            <a:off x="13097156" y="-47344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2544511" y="0"/>
            <a:ext cx="2871804" cy="709475"/>
            <a:chOff x="0" y="0"/>
            <a:chExt cx="767676" cy="1896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416196" y="0"/>
            <a:ext cx="2871804" cy="709475"/>
            <a:chOff x="0" y="0"/>
            <a:chExt cx="767676" cy="1896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0" y="0"/>
            <a:ext cx="3790327" cy="951597"/>
            <a:chOff x="0" y="0"/>
            <a:chExt cx="5053770" cy="1268795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5053770" cy="1268795"/>
              <a:chOff x="0" y="0"/>
              <a:chExt cx="767676" cy="192732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67676" cy="192732"/>
              </a:xfrm>
              <a:custGeom>
                <a:avLst/>
                <a:gdLst/>
                <a:ahLst/>
                <a:cxnLst/>
                <a:rect r="r" b="b" t="t" l="l"/>
                <a:pathLst>
                  <a:path h="192732" w="767676">
                    <a:moveTo>
                      <a:pt x="80875" y="0"/>
                    </a:moveTo>
                    <a:lnTo>
                      <a:pt x="686801" y="0"/>
                    </a:lnTo>
                    <a:cubicBezTo>
                      <a:pt x="708251" y="0"/>
                      <a:pt x="728822" y="8521"/>
                      <a:pt x="743989" y="23688"/>
                    </a:cubicBezTo>
                    <a:cubicBezTo>
                      <a:pt x="759156" y="38855"/>
                      <a:pt x="767676" y="59426"/>
                      <a:pt x="767676" y="80875"/>
                    </a:cubicBezTo>
                    <a:lnTo>
                      <a:pt x="767676" y="111857"/>
                    </a:lnTo>
                    <a:cubicBezTo>
                      <a:pt x="767676" y="133307"/>
                      <a:pt x="759156" y="153877"/>
                      <a:pt x="743989" y="169044"/>
                    </a:cubicBezTo>
                    <a:cubicBezTo>
                      <a:pt x="728822" y="184212"/>
                      <a:pt x="708251" y="192732"/>
                      <a:pt x="686801" y="192732"/>
                    </a:cubicBezTo>
                    <a:lnTo>
                      <a:pt x="80875" y="192732"/>
                    </a:lnTo>
                    <a:cubicBezTo>
                      <a:pt x="59426" y="192732"/>
                      <a:pt x="38855" y="184212"/>
                      <a:pt x="23688" y="169044"/>
                    </a:cubicBezTo>
                    <a:cubicBezTo>
                      <a:pt x="8521" y="153877"/>
                      <a:pt x="0" y="133307"/>
                      <a:pt x="0" y="111857"/>
                    </a:cubicBezTo>
                    <a:lnTo>
                      <a:pt x="0" y="80875"/>
                    </a:lnTo>
                    <a:cubicBezTo>
                      <a:pt x="0" y="59426"/>
                      <a:pt x="8521" y="38855"/>
                      <a:pt x="23688" y="23688"/>
                    </a:cubicBezTo>
                    <a:cubicBezTo>
                      <a:pt x="38855" y="8521"/>
                      <a:pt x="59426" y="0"/>
                      <a:pt x="80875" y="0"/>
                    </a:cubicBezTo>
                    <a:close/>
                  </a:path>
                </a:pathLst>
              </a:custGeom>
              <a:solidFill>
                <a:srgbClr val="78AF95">
                  <a:alpha val="88627"/>
                </a:srgbClr>
              </a:solidFill>
              <a:ln w="38100" cap="rnd">
                <a:solidFill>
                  <a:srgbClr val="000000">
                    <a:alpha val="88627"/>
                  </a:srgbClr>
                </a:solidFill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66675"/>
                <a:ext cx="767676" cy="2594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40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496573" y="150653"/>
              <a:ext cx="4060623" cy="9569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43"/>
                </a:lnSpc>
                <a:spcBef>
                  <a:spcPct val="0"/>
                </a:spcBef>
              </a:pPr>
              <a:r>
                <a:rPr lang="en-US" sz="3959">
                  <a:solidFill>
                    <a:srgbClr val="01341C">
                      <a:alpha val="88627"/>
                    </a:srgbClr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Introduction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799852" y="0"/>
            <a:ext cx="2982282" cy="709475"/>
            <a:chOff x="0" y="0"/>
            <a:chExt cx="3976375" cy="945966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3976375" cy="945966"/>
              <a:chOff x="0" y="0"/>
              <a:chExt cx="767676" cy="182628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767676" cy="182628"/>
              </a:xfrm>
              <a:custGeom>
                <a:avLst/>
                <a:gdLst/>
                <a:ahLst/>
                <a:cxnLst/>
                <a:rect r="r" b="b" t="t" l="l"/>
                <a:pathLst>
                  <a:path h="182628" w="767676">
                    <a:moveTo>
                      <a:pt x="59396" y="0"/>
                    </a:moveTo>
                    <a:lnTo>
                      <a:pt x="708281" y="0"/>
                    </a:lnTo>
                    <a:cubicBezTo>
                      <a:pt x="724033" y="0"/>
                      <a:pt x="739141" y="6258"/>
                      <a:pt x="750280" y="17397"/>
                    </a:cubicBezTo>
                    <a:cubicBezTo>
                      <a:pt x="761419" y="28536"/>
                      <a:pt x="767676" y="43643"/>
                      <a:pt x="767676" y="59396"/>
                    </a:cubicBezTo>
                    <a:lnTo>
                      <a:pt x="767676" y="123232"/>
                    </a:lnTo>
                    <a:cubicBezTo>
                      <a:pt x="767676" y="138985"/>
                      <a:pt x="761419" y="154092"/>
                      <a:pt x="750280" y="165231"/>
                    </a:cubicBezTo>
                    <a:cubicBezTo>
                      <a:pt x="739141" y="176370"/>
                      <a:pt x="724033" y="182628"/>
                      <a:pt x="708281" y="182628"/>
                    </a:cubicBezTo>
                    <a:lnTo>
                      <a:pt x="59396" y="182628"/>
                    </a:lnTo>
                    <a:cubicBezTo>
                      <a:pt x="43643" y="182628"/>
                      <a:pt x="28536" y="176370"/>
                      <a:pt x="17397" y="165231"/>
                    </a:cubicBezTo>
                    <a:cubicBezTo>
                      <a:pt x="6258" y="154092"/>
                      <a:pt x="0" y="138985"/>
                      <a:pt x="0" y="123232"/>
                    </a:cubicBezTo>
                    <a:lnTo>
                      <a:pt x="0" y="59396"/>
                    </a:lnTo>
                    <a:cubicBezTo>
                      <a:pt x="0" y="43643"/>
                      <a:pt x="6258" y="28536"/>
                      <a:pt x="17397" y="17397"/>
                    </a:cubicBezTo>
                    <a:cubicBezTo>
                      <a:pt x="28536" y="6258"/>
                      <a:pt x="43643" y="0"/>
                      <a:pt x="59396" y="0"/>
                    </a:cubicBezTo>
                    <a:close/>
                  </a:path>
                </a:pathLst>
              </a:custGeom>
              <a:solidFill>
                <a:srgbClr val="78AF95">
                  <a:alpha val="88627"/>
                </a:srgbClr>
              </a:solidFill>
              <a:ln w="38100" cap="rnd">
                <a:solidFill>
                  <a:srgbClr val="000000">
                    <a:alpha val="88627"/>
                  </a:srgbClr>
                </a:solidFill>
                <a:prstDash val="solid"/>
                <a:round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66675"/>
                <a:ext cx="767676" cy="24930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40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390711" y="114621"/>
              <a:ext cx="3194954" cy="7568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61"/>
                </a:lnSpc>
                <a:spcBef>
                  <a:spcPct val="0"/>
                </a:spcBef>
              </a:pPr>
              <a:r>
                <a:rPr lang="en-US" sz="3115">
                  <a:solidFill>
                    <a:srgbClr val="01341C">
                      <a:alpha val="88627"/>
                    </a:srgbClr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Background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756274">
            <a:off x="3142128" y="5373649"/>
            <a:ext cx="2986547" cy="3602194"/>
          </a:xfrm>
          <a:custGeom>
            <a:avLst/>
            <a:gdLst/>
            <a:ahLst/>
            <a:cxnLst/>
            <a:rect r="r" b="b" t="t" l="l"/>
            <a:pathLst>
              <a:path h="3602194" w="2986547">
                <a:moveTo>
                  <a:pt x="0" y="0"/>
                </a:moveTo>
                <a:lnTo>
                  <a:pt x="2986547" y="0"/>
                </a:lnTo>
                <a:lnTo>
                  <a:pt x="2986547" y="3602195"/>
                </a:lnTo>
                <a:lnTo>
                  <a:pt x="0" y="36021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113981" y="4130622"/>
            <a:ext cx="3106250" cy="3044125"/>
          </a:xfrm>
          <a:custGeom>
            <a:avLst/>
            <a:gdLst/>
            <a:ahLst/>
            <a:cxnLst/>
            <a:rect r="r" b="b" t="t" l="l"/>
            <a:pathLst>
              <a:path h="3044125" w="3106250">
                <a:moveTo>
                  <a:pt x="0" y="0"/>
                </a:moveTo>
                <a:lnTo>
                  <a:pt x="3106249" y="0"/>
                </a:lnTo>
                <a:lnTo>
                  <a:pt x="3106249" y="3044125"/>
                </a:lnTo>
                <a:lnTo>
                  <a:pt x="0" y="30441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2202088" y="5322543"/>
            <a:ext cx="5057212" cy="3704408"/>
          </a:xfrm>
          <a:custGeom>
            <a:avLst/>
            <a:gdLst/>
            <a:ahLst/>
            <a:cxnLst/>
            <a:rect r="r" b="b" t="t" l="l"/>
            <a:pathLst>
              <a:path h="3704408" w="5057212">
                <a:moveTo>
                  <a:pt x="0" y="0"/>
                </a:moveTo>
                <a:lnTo>
                  <a:pt x="5057212" y="0"/>
                </a:lnTo>
                <a:lnTo>
                  <a:pt x="5057212" y="3704407"/>
                </a:lnTo>
                <a:lnTo>
                  <a:pt x="0" y="37044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7387728" y="5446991"/>
            <a:ext cx="3512544" cy="3097425"/>
          </a:xfrm>
          <a:custGeom>
            <a:avLst/>
            <a:gdLst/>
            <a:ahLst/>
            <a:cxnLst/>
            <a:rect r="r" b="b" t="t" l="l"/>
            <a:pathLst>
              <a:path h="3097425" w="3512544">
                <a:moveTo>
                  <a:pt x="0" y="0"/>
                </a:moveTo>
                <a:lnTo>
                  <a:pt x="3512544" y="0"/>
                </a:lnTo>
                <a:lnTo>
                  <a:pt x="3512544" y="3097425"/>
                </a:lnTo>
                <a:lnTo>
                  <a:pt x="0" y="30974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571159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Conclusion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06431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Methods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41788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Results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830402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Discussion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996898" y="1959879"/>
            <a:ext cx="12294205" cy="2565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How Does the Brain Make Sense of Sound?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6418" y="4454154"/>
            <a:ext cx="6631900" cy="427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8" indent="-431799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Thalamus relays sensory information to sensory cortices</a:t>
            </a:r>
          </a:p>
          <a:p>
            <a:pPr algn="l" marL="1727196" indent="-575732" lvl="2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Visual</a:t>
            </a:r>
          </a:p>
          <a:p>
            <a:pPr algn="l" marL="1727196" indent="-575732" lvl="2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Somatosensory</a:t>
            </a:r>
          </a:p>
          <a:p>
            <a:pPr algn="l" marL="1727196" indent="-575732" lvl="2">
              <a:lnSpc>
                <a:spcPts val="5599"/>
              </a:lnSpc>
              <a:buFont typeface="Arial"/>
              <a:buChar char="⚬"/>
            </a:pPr>
            <a:r>
              <a:rPr lang="en-US" sz="3999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Auditory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5400000">
            <a:off x="0" y="0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871804" y="0"/>
            <a:ext cx="3910329" cy="930254"/>
            <a:chOff x="0" y="0"/>
            <a:chExt cx="767676" cy="1826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7676" cy="182628"/>
            </a:xfrm>
            <a:custGeom>
              <a:avLst/>
              <a:gdLst/>
              <a:ahLst/>
              <a:cxnLst/>
              <a:rect r="r" b="b" t="t" l="l"/>
              <a:pathLst>
                <a:path h="182628" w="767676">
                  <a:moveTo>
                    <a:pt x="59396" y="0"/>
                  </a:moveTo>
                  <a:lnTo>
                    <a:pt x="708281" y="0"/>
                  </a:lnTo>
                  <a:cubicBezTo>
                    <a:pt x="724033" y="0"/>
                    <a:pt x="739141" y="6258"/>
                    <a:pt x="750280" y="17397"/>
                  </a:cubicBezTo>
                  <a:cubicBezTo>
                    <a:pt x="761419" y="28536"/>
                    <a:pt x="767676" y="43643"/>
                    <a:pt x="767676" y="59396"/>
                  </a:cubicBezTo>
                  <a:lnTo>
                    <a:pt x="767676" y="123232"/>
                  </a:lnTo>
                  <a:cubicBezTo>
                    <a:pt x="767676" y="138985"/>
                    <a:pt x="761419" y="154092"/>
                    <a:pt x="750280" y="165231"/>
                  </a:cubicBezTo>
                  <a:cubicBezTo>
                    <a:pt x="739141" y="176370"/>
                    <a:pt x="724033" y="182628"/>
                    <a:pt x="708281" y="182628"/>
                  </a:cubicBezTo>
                  <a:lnTo>
                    <a:pt x="59396" y="182628"/>
                  </a:lnTo>
                  <a:cubicBezTo>
                    <a:pt x="43643" y="182628"/>
                    <a:pt x="28536" y="176370"/>
                    <a:pt x="17397" y="165231"/>
                  </a:cubicBezTo>
                  <a:cubicBezTo>
                    <a:pt x="6258" y="154092"/>
                    <a:pt x="0" y="138985"/>
                    <a:pt x="0" y="123232"/>
                  </a:cubicBezTo>
                  <a:lnTo>
                    <a:pt x="0" y="59396"/>
                  </a:lnTo>
                  <a:cubicBezTo>
                    <a:pt x="0" y="43643"/>
                    <a:pt x="6258" y="28536"/>
                    <a:pt x="17397" y="17397"/>
                  </a:cubicBezTo>
                  <a:cubicBezTo>
                    <a:pt x="28536" y="6258"/>
                    <a:pt x="43643" y="0"/>
                    <a:pt x="59396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767676" cy="249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82134" y="0"/>
            <a:ext cx="2871804" cy="709475"/>
            <a:chOff x="0" y="0"/>
            <a:chExt cx="767676" cy="18965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63322" y="0"/>
            <a:ext cx="2871804" cy="709475"/>
            <a:chOff x="0" y="0"/>
            <a:chExt cx="767676" cy="1896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10800000">
            <a:off x="13097156" y="-47344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2544511" y="0"/>
            <a:ext cx="2871804" cy="709475"/>
            <a:chOff x="0" y="0"/>
            <a:chExt cx="767676" cy="18965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416196" y="0"/>
            <a:ext cx="2871804" cy="709475"/>
            <a:chOff x="0" y="0"/>
            <a:chExt cx="767676" cy="18965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0" y="0"/>
            <a:ext cx="2871804" cy="720993"/>
            <a:chOff x="0" y="0"/>
            <a:chExt cx="3829072" cy="961324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3829072" cy="961324"/>
              <a:chOff x="0" y="0"/>
              <a:chExt cx="767676" cy="192732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767676" cy="192732"/>
              </a:xfrm>
              <a:custGeom>
                <a:avLst/>
                <a:gdLst/>
                <a:ahLst/>
                <a:cxnLst/>
                <a:rect r="r" b="b" t="t" l="l"/>
                <a:pathLst>
                  <a:path h="192732" w="767676">
                    <a:moveTo>
                      <a:pt x="80875" y="0"/>
                    </a:moveTo>
                    <a:lnTo>
                      <a:pt x="686801" y="0"/>
                    </a:lnTo>
                    <a:cubicBezTo>
                      <a:pt x="708251" y="0"/>
                      <a:pt x="728822" y="8521"/>
                      <a:pt x="743989" y="23688"/>
                    </a:cubicBezTo>
                    <a:cubicBezTo>
                      <a:pt x="759156" y="38855"/>
                      <a:pt x="767676" y="59426"/>
                      <a:pt x="767676" y="80875"/>
                    </a:cubicBezTo>
                    <a:lnTo>
                      <a:pt x="767676" y="111857"/>
                    </a:lnTo>
                    <a:cubicBezTo>
                      <a:pt x="767676" y="133307"/>
                      <a:pt x="759156" y="153877"/>
                      <a:pt x="743989" y="169044"/>
                    </a:cubicBezTo>
                    <a:cubicBezTo>
                      <a:pt x="728822" y="184212"/>
                      <a:pt x="708251" y="192732"/>
                      <a:pt x="686801" y="192732"/>
                    </a:cubicBezTo>
                    <a:lnTo>
                      <a:pt x="80875" y="192732"/>
                    </a:lnTo>
                    <a:cubicBezTo>
                      <a:pt x="59426" y="192732"/>
                      <a:pt x="38855" y="184212"/>
                      <a:pt x="23688" y="169044"/>
                    </a:cubicBezTo>
                    <a:cubicBezTo>
                      <a:pt x="8521" y="153877"/>
                      <a:pt x="0" y="133307"/>
                      <a:pt x="0" y="111857"/>
                    </a:cubicBezTo>
                    <a:lnTo>
                      <a:pt x="0" y="80875"/>
                    </a:lnTo>
                    <a:cubicBezTo>
                      <a:pt x="0" y="59426"/>
                      <a:pt x="8521" y="38855"/>
                      <a:pt x="23688" y="23688"/>
                    </a:cubicBezTo>
                    <a:cubicBezTo>
                      <a:pt x="38855" y="8521"/>
                      <a:pt x="59426" y="0"/>
                      <a:pt x="80875" y="0"/>
                    </a:cubicBezTo>
                    <a:close/>
                  </a:path>
                </a:pathLst>
              </a:custGeom>
              <a:solidFill>
                <a:srgbClr val="78AF95">
                  <a:alpha val="88627"/>
                </a:srgbClr>
              </a:solidFill>
              <a:ln w="38100" cap="rnd">
                <a:solidFill>
                  <a:srgbClr val="000000">
                    <a:alpha val="88627"/>
                  </a:srgbClr>
                </a:solidFill>
                <a:prstDash val="solid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66675"/>
                <a:ext cx="767676" cy="2594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376237" y="105788"/>
              <a:ext cx="3076598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1341C">
                      <a:alpha val="88627"/>
                    </a:srgbClr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Introduction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8037607" y="4606554"/>
            <a:ext cx="9221693" cy="4100476"/>
          </a:xfrm>
          <a:custGeom>
            <a:avLst/>
            <a:gdLst/>
            <a:ahLst/>
            <a:cxnLst/>
            <a:rect r="r" b="b" t="t" l="l"/>
            <a:pathLst>
              <a:path h="4100476" w="9221693">
                <a:moveTo>
                  <a:pt x="0" y="0"/>
                </a:moveTo>
                <a:lnTo>
                  <a:pt x="9221693" y="0"/>
                </a:lnTo>
                <a:lnTo>
                  <a:pt x="9221693" y="4100477"/>
                </a:lnTo>
                <a:lnTo>
                  <a:pt x="0" y="41004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6824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4994407" y="6739479"/>
            <a:ext cx="673032" cy="417294"/>
          </a:xfrm>
          <a:custGeom>
            <a:avLst/>
            <a:gdLst/>
            <a:ahLst/>
            <a:cxnLst/>
            <a:rect r="r" b="b" t="t" l="l"/>
            <a:pathLst>
              <a:path h="417294" w="673032">
                <a:moveTo>
                  <a:pt x="0" y="0"/>
                </a:moveTo>
                <a:lnTo>
                  <a:pt x="673033" y="0"/>
                </a:lnTo>
                <a:lnTo>
                  <a:pt x="673033" y="417294"/>
                </a:lnTo>
                <a:lnTo>
                  <a:pt x="0" y="4172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5474465" y="8057265"/>
            <a:ext cx="411684" cy="588120"/>
          </a:xfrm>
          <a:custGeom>
            <a:avLst/>
            <a:gdLst/>
            <a:ahLst/>
            <a:cxnLst/>
            <a:rect r="r" b="b" t="t" l="l"/>
            <a:pathLst>
              <a:path h="588120" w="411684">
                <a:moveTo>
                  <a:pt x="0" y="0"/>
                </a:moveTo>
                <a:lnTo>
                  <a:pt x="411684" y="0"/>
                </a:lnTo>
                <a:lnTo>
                  <a:pt x="411684" y="588120"/>
                </a:lnTo>
                <a:lnTo>
                  <a:pt x="0" y="5881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5886149" y="8144943"/>
            <a:ext cx="287083" cy="412765"/>
          </a:xfrm>
          <a:custGeom>
            <a:avLst/>
            <a:gdLst/>
            <a:ahLst/>
            <a:cxnLst/>
            <a:rect r="r" b="b" t="t" l="l"/>
            <a:pathLst>
              <a:path h="412765" w="287083">
                <a:moveTo>
                  <a:pt x="0" y="0"/>
                </a:moveTo>
                <a:lnTo>
                  <a:pt x="287084" y="0"/>
                </a:lnTo>
                <a:lnTo>
                  <a:pt x="287084" y="412765"/>
                </a:lnTo>
                <a:lnTo>
                  <a:pt x="0" y="4127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466418" y="2734477"/>
            <a:ext cx="15355163" cy="1299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8" indent="-431799" lvl="1">
              <a:lnSpc>
                <a:spcPts val="4839"/>
              </a:lnSpc>
              <a:buFont typeface="Arial"/>
              <a:buChar char="•"/>
            </a:pPr>
            <a:r>
              <a:rPr lang="en-US" sz="3999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All mammalian brains have a neocortex with six layers</a:t>
            </a:r>
          </a:p>
          <a:p>
            <a:pPr algn="l" marL="1727196" indent="-575732" lvl="2">
              <a:lnSpc>
                <a:spcPts val="4839"/>
              </a:lnSpc>
              <a:buFont typeface="Arial"/>
              <a:buChar char="⚬"/>
            </a:pPr>
            <a:r>
              <a:rPr lang="en-US" sz="3999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With s</a:t>
            </a:r>
            <a:r>
              <a:rPr lang="en-US" sz="3999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hared subcortical architectures¹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256025" y="72561"/>
            <a:ext cx="3141887" cy="784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8"/>
              </a:lnSpc>
              <a:spcBef>
                <a:spcPct val="0"/>
              </a:spcBef>
            </a:pPr>
            <a:r>
              <a:rPr lang="en-US" sz="4084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Background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71159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Conclusion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06431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Methods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941788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Results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830402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Discussion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657891" y="9432290"/>
            <a:ext cx="13361148" cy="854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Miterko, L. N., Lackey, E. P., Heck, D. H., &amp; Sillitoe, R. V. (2018). </a:t>
            </a:r>
            <a:r>
              <a:rPr lang="en-US" sz="1599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Shaping Diversity Into the Brain's Form and Function. Frontiers in Neural Circuits, 12, 83. DOI: 10.3389/fncir.2018.00083 </a:t>
            </a:r>
            <a:r>
              <a:rPr lang="en-US" sz="1599" u="sng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  <a:hlinkClick r:id="rId11" tooltip="https://doi.org/10.3389/fncir.2018.00083"/>
              </a:rPr>
              <a:t>https://doi.org/10.3389/fncir.2018.00083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3420963" y="1461359"/>
            <a:ext cx="11446073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Shared Structure of the Mammalian Brain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0" y="0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71804" y="0"/>
            <a:ext cx="3910329" cy="930254"/>
            <a:chOff x="0" y="0"/>
            <a:chExt cx="767676" cy="1826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7676" cy="182628"/>
            </a:xfrm>
            <a:custGeom>
              <a:avLst/>
              <a:gdLst/>
              <a:ahLst/>
              <a:cxnLst/>
              <a:rect r="r" b="b" t="t" l="l"/>
              <a:pathLst>
                <a:path h="182628" w="767676">
                  <a:moveTo>
                    <a:pt x="59396" y="0"/>
                  </a:moveTo>
                  <a:lnTo>
                    <a:pt x="708281" y="0"/>
                  </a:lnTo>
                  <a:cubicBezTo>
                    <a:pt x="724033" y="0"/>
                    <a:pt x="739141" y="6258"/>
                    <a:pt x="750280" y="17397"/>
                  </a:cubicBezTo>
                  <a:cubicBezTo>
                    <a:pt x="761419" y="28536"/>
                    <a:pt x="767676" y="43643"/>
                    <a:pt x="767676" y="59396"/>
                  </a:cubicBezTo>
                  <a:lnTo>
                    <a:pt x="767676" y="123232"/>
                  </a:lnTo>
                  <a:cubicBezTo>
                    <a:pt x="767676" y="138985"/>
                    <a:pt x="761419" y="154092"/>
                    <a:pt x="750280" y="165231"/>
                  </a:cubicBezTo>
                  <a:cubicBezTo>
                    <a:pt x="739141" y="176370"/>
                    <a:pt x="724033" y="182628"/>
                    <a:pt x="708281" y="182628"/>
                  </a:cubicBezTo>
                  <a:lnTo>
                    <a:pt x="59396" y="182628"/>
                  </a:lnTo>
                  <a:cubicBezTo>
                    <a:pt x="43643" y="182628"/>
                    <a:pt x="28536" y="176370"/>
                    <a:pt x="17397" y="165231"/>
                  </a:cubicBezTo>
                  <a:cubicBezTo>
                    <a:pt x="6258" y="154092"/>
                    <a:pt x="0" y="138985"/>
                    <a:pt x="0" y="123232"/>
                  </a:cubicBezTo>
                  <a:lnTo>
                    <a:pt x="0" y="59396"/>
                  </a:lnTo>
                  <a:cubicBezTo>
                    <a:pt x="0" y="43643"/>
                    <a:pt x="6258" y="28536"/>
                    <a:pt x="17397" y="17397"/>
                  </a:cubicBezTo>
                  <a:cubicBezTo>
                    <a:pt x="28536" y="6258"/>
                    <a:pt x="43643" y="0"/>
                    <a:pt x="59396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767676" cy="249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82134" y="0"/>
            <a:ext cx="2871804" cy="709475"/>
            <a:chOff x="0" y="0"/>
            <a:chExt cx="767676" cy="1896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63322" y="0"/>
            <a:ext cx="2871804" cy="709475"/>
            <a:chOff x="0" y="0"/>
            <a:chExt cx="767676" cy="1896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3097156" y="-47344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544511" y="0"/>
            <a:ext cx="2871804" cy="709475"/>
            <a:chOff x="0" y="0"/>
            <a:chExt cx="767676" cy="1896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416196" y="0"/>
            <a:ext cx="2871804" cy="709475"/>
            <a:chOff x="0" y="0"/>
            <a:chExt cx="767676" cy="1896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0" y="0"/>
            <a:ext cx="2871804" cy="720993"/>
            <a:chOff x="0" y="0"/>
            <a:chExt cx="3829072" cy="961324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3829072" cy="961324"/>
              <a:chOff x="0" y="0"/>
              <a:chExt cx="767676" cy="19273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67676" cy="192732"/>
              </a:xfrm>
              <a:custGeom>
                <a:avLst/>
                <a:gdLst/>
                <a:ahLst/>
                <a:cxnLst/>
                <a:rect r="r" b="b" t="t" l="l"/>
                <a:pathLst>
                  <a:path h="192732" w="767676">
                    <a:moveTo>
                      <a:pt x="80875" y="0"/>
                    </a:moveTo>
                    <a:lnTo>
                      <a:pt x="686801" y="0"/>
                    </a:lnTo>
                    <a:cubicBezTo>
                      <a:pt x="708251" y="0"/>
                      <a:pt x="728822" y="8521"/>
                      <a:pt x="743989" y="23688"/>
                    </a:cubicBezTo>
                    <a:cubicBezTo>
                      <a:pt x="759156" y="38855"/>
                      <a:pt x="767676" y="59426"/>
                      <a:pt x="767676" y="80875"/>
                    </a:cubicBezTo>
                    <a:lnTo>
                      <a:pt x="767676" y="111857"/>
                    </a:lnTo>
                    <a:cubicBezTo>
                      <a:pt x="767676" y="133307"/>
                      <a:pt x="759156" y="153877"/>
                      <a:pt x="743989" y="169044"/>
                    </a:cubicBezTo>
                    <a:cubicBezTo>
                      <a:pt x="728822" y="184212"/>
                      <a:pt x="708251" y="192732"/>
                      <a:pt x="686801" y="192732"/>
                    </a:cubicBezTo>
                    <a:lnTo>
                      <a:pt x="80875" y="192732"/>
                    </a:lnTo>
                    <a:cubicBezTo>
                      <a:pt x="59426" y="192732"/>
                      <a:pt x="38855" y="184212"/>
                      <a:pt x="23688" y="169044"/>
                    </a:cubicBezTo>
                    <a:cubicBezTo>
                      <a:pt x="8521" y="153877"/>
                      <a:pt x="0" y="133307"/>
                      <a:pt x="0" y="111857"/>
                    </a:cubicBezTo>
                    <a:lnTo>
                      <a:pt x="0" y="80875"/>
                    </a:lnTo>
                    <a:cubicBezTo>
                      <a:pt x="0" y="59426"/>
                      <a:pt x="8521" y="38855"/>
                      <a:pt x="23688" y="23688"/>
                    </a:cubicBezTo>
                    <a:cubicBezTo>
                      <a:pt x="38855" y="8521"/>
                      <a:pt x="59426" y="0"/>
                      <a:pt x="80875" y="0"/>
                    </a:cubicBezTo>
                    <a:close/>
                  </a:path>
                </a:pathLst>
              </a:custGeom>
              <a:solidFill>
                <a:srgbClr val="78AF95">
                  <a:alpha val="88627"/>
                </a:srgbClr>
              </a:solidFill>
              <a:ln w="38100" cap="rnd">
                <a:solidFill>
                  <a:srgbClr val="000000">
                    <a:alpha val="88627"/>
                  </a:srgbClr>
                </a:solidFill>
                <a:prstDash val="solid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66675"/>
                <a:ext cx="767676" cy="2594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76237" y="105788"/>
              <a:ext cx="3076598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1341C">
                      <a:alpha val="88627"/>
                    </a:srgbClr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Introduction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7754546" y="3014028"/>
            <a:ext cx="8600573" cy="3272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235"/>
              </a:lnSpc>
              <a:buFont typeface="Arial"/>
              <a:buChar char="•"/>
            </a:pPr>
            <a:r>
              <a:rPr lang="en-US" sz="3500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Located in the temporal lobe</a:t>
            </a:r>
          </a:p>
          <a:p>
            <a:pPr algn="l" marL="755651" indent="-377825" lvl="1">
              <a:lnSpc>
                <a:spcPts val="4235"/>
              </a:lnSpc>
              <a:buFont typeface="Arial"/>
              <a:buChar char="•"/>
            </a:pPr>
            <a:r>
              <a:rPr lang="en-US" sz="3500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Processes sound, from simple tones to complex speech</a:t>
            </a:r>
          </a:p>
          <a:p>
            <a:pPr algn="l" marL="755651" indent="-377825" lvl="1">
              <a:lnSpc>
                <a:spcPts val="4235"/>
              </a:lnSpc>
              <a:buFont typeface="Arial"/>
              <a:buChar char="•"/>
            </a:pPr>
            <a:r>
              <a:rPr lang="en-US" sz="3500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Humans: temporal lobe supports language, memory, and emotion</a:t>
            </a:r>
          </a:p>
          <a:p>
            <a:pPr algn="l" marL="755651" indent="-377825" lvl="1">
              <a:lnSpc>
                <a:spcPts val="4235"/>
              </a:lnSpc>
              <a:buFont typeface="Arial"/>
              <a:buChar char="•"/>
            </a:pPr>
            <a:r>
              <a:rPr lang="en-US" sz="3500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Mice: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256025" y="72561"/>
            <a:ext cx="3141887" cy="784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8"/>
              </a:lnSpc>
              <a:spcBef>
                <a:spcPct val="0"/>
              </a:spcBef>
            </a:pPr>
            <a:r>
              <a:rPr lang="en-US" sz="4084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Background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71159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Conclusion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06431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Methods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41788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Results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830402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Discussion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028700" y="2595422"/>
            <a:ext cx="6056459" cy="6370389"/>
          </a:xfrm>
          <a:custGeom>
            <a:avLst/>
            <a:gdLst/>
            <a:ahLst/>
            <a:cxnLst/>
            <a:rect r="r" b="b" t="t" l="l"/>
            <a:pathLst>
              <a:path h="6370389" w="6056459">
                <a:moveTo>
                  <a:pt x="0" y="0"/>
                </a:moveTo>
                <a:lnTo>
                  <a:pt x="6056459" y="0"/>
                </a:lnTo>
                <a:lnTo>
                  <a:pt x="6056459" y="6370389"/>
                </a:lnTo>
                <a:lnTo>
                  <a:pt x="0" y="63703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115" r="-76903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5559103" y="1461359"/>
            <a:ext cx="7169795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Auditory Cortex (AC)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0" y="0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71804" y="0"/>
            <a:ext cx="3910329" cy="930254"/>
            <a:chOff x="0" y="0"/>
            <a:chExt cx="767676" cy="1826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7676" cy="182628"/>
            </a:xfrm>
            <a:custGeom>
              <a:avLst/>
              <a:gdLst/>
              <a:ahLst/>
              <a:cxnLst/>
              <a:rect r="r" b="b" t="t" l="l"/>
              <a:pathLst>
                <a:path h="182628" w="767676">
                  <a:moveTo>
                    <a:pt x="59396" y="0"/>
                  </a:moveTo>
                  <a:lnTo>
                    <a:pt x="708281" y="0"/>
                  </a:lnTo>
                  <a:cubicBezTo>
                    <a:pt x="724033" y="0"/>
                    <a:pt x="739141" y="6258"/>
                    <a:pt x="750280" y="17397"/>
                  </a:cubicBezTo>
                  <a:cubicBezTo>
                    <a:pt x="761419" y="28536"/>
                    <a:pt x="767676" y="43643"/>
                    <a:pt x="767676" y="59396"/>
                  </a:cubicBezTo>
                  <a:lnTo>
                    <a:pt x="767676" y="123232"/>
                  </a:lnTo>
                  <a:cubicBezTo>
                    <a:pt x="767676" y="138985"/>
                    <a:pt x="761419" y="154092"/>
                    <a:pt x="750280" y="165231"/>
                  </a:cubicBezTo>
                  <a:cubicBezTo>
                    <a:pt x="739141" y="176370"/>
                    <a:pt x="724033" y="182628"/>
                    <a:pt x="708281" y="182628"/>
                  </a:cubicBezTo>
                  <a:lnTo>
                    <a:pt x="59396" y="182628"/>
                  </a:lnTo>
                  <a:cubicBezTo>
                    <a:pt x="43643" y="182628"/>
                    <a:pt x="28536" y="176370"/>
                    <a:pt x="17397" y="165231"/>
                  </a:cubicBezTo>
                  <a:cubicBezTo>
                    <a:pt x="6258" y="154092"/>
                    <a:pt x="0" y="138985"/>
                    <a:pt x="0" y="123232"/>
                  </a:cubicBezTo>
                  <a:lnTo>
                    <a:pt x="0" y="59396"/>
                  </a:lnTo>
                  <a:cubicBezTo>
                    <a:pt x="0" y="43643"/>
                    <a:pt x="6258" y="28536"/>
                    <a:pt x="17397" y="17397"/>
                  </a:cubicBezTo>
                  <a:cubicBezTo>
                    <a:pt x="28536" y="6258"/>
                    <a:pt x="43643" y="0"/>
                    <a:pt x="59396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767676" cy="249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82134" y="0"/>
            <a:ext cx="2871804" cy="709475"/>
            <a:chOff x="0" y="0"/>
            <a:chExt cx="767676" cy="1896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63322" y="0"/>
            <a:ext cx="2871804" cy="709475"/>
            <a:chOff x="0" y="0"/>
            <a:chExt cx="767676" cy="1896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3097156" y="-47344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544511" y="0"/>
            <a:ext cx="2871804" cy="709475"/>
            <a:chOff x="0" y="0"/>
            <a:chExt cx="767676" cy="1896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416196" y="0"/>
            <a:ext cx="2871804" cy="709475"/>
            <a:chOff x="0" y="0"/>
            <a:chExt cx="767676" cy="1896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0" y="0"/>
            <a:ext cx="2871804" cy="720993"/>
            <a:chOff x="0" y="0"/>
            <a:chExt cx="3829072" cy="961324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3829072" cy="961324"/>
              <a:chOff x="0" y="0"/>
              <a:chExt cx="767676" cy="19273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67676" cy="192732"/>
              </a:xfrm>
              <a:custGeom>
                <a:avLst/>
                <a:gdLst/>
                <a:ahLst/>
                <a:cxnLst/>
                <a:rect r="r" b="b" t="t" l="l"/>
                <a:pathLst>
                  <a:path h="192732" w="767676">
                    <a:moveTo>
                      <a:pt x="80875" y="0"/>
                    </a:moveTo>
                    <a:lnTo>
                      <a:pt x="686801" y="0"/>
                    </a:lnTo>
                    <a:cubicBezTo>
                      <a:pt x="708251" y="0"/>
                      <a:pt x="728822" y="8521"/>
                      <a:pt x="743989" y="23688"/>
                    </a:cubicBezTo>
                    <a:cubicBezTo>
                      <a:pt x="759156" y="38855"/>
                      <a:pt x="767676" y="59426"/>
                      <a:pt x="767676" y="80875"/>
                    </a:cubicBezTo>
                    <a:lnTo>
                      <a:pt x="767676" y="111857"/>
                    </a:lnTo>
                    <a:cubicBezTo>
                      <a:pt x="767676" y="133307"/>
                      <a:pt x="759156" y="153877"/>
                      <a:pt x="743989" y="169044"/>
                    </a:cubicBezTo>
                    <a:cubicBezTo>
                      <a:pt x="728822" y="184212"/>
                      <a:pt x="708251" y="192732"/>
                      <a:pt x="686801" y="192732"/>
                    </a:cubicBezTo>
                    <a:lnTo>
                      <a:pt x="80875" y="192732"/>
                    </a:lnTo>
                    <a:cubicBezTo>
                      <a:pt x="59426" y="192732"/>
                      <a:pt x="38855" y="184212"/>
                      <a:pt x="23688" y="169044"/>
                    </a:cubicBezTo>
                    <a:cubicBezTo>
                      <a:pt x="8521" y="153877"/>
                      <a:pt x="0" y="133307"/>
                      <a:pt x="0" y="111857"/>
                    </a:cubicBezTo>
                    <a:lnTo>
                      <a:pt x="0" y="80875"/>
                    </a:lnTo>
                    <a:cubicBezTo>
                      <a:pt x="0" y="59426"/>
                      <a:pt x="8521" y="38855"/>
                      <a:pt x="23688" y="23688"/>
                    </a:cubicBezTo>
                    <a:cubicBezTo>
                      <a:pt x="38855" y="8521"/>
                      <a:pt x="59426" y="0"/>
                      <a:pt x="80875" y="0"/>
                    </a:cubicBezTo>
                    <a:close/>
                  </a:path>
                </a:pathLst>
              </a:custGeom>
              <a:solidFill>
                <a:srgbClr val="78AF95">
                  <a:alpha val="88627"/>
                </a:srgbClr>
              </a:solidFill>
              <a:ln w="38100" cap="rnd">
                <a:solidFill>
                  <a:srgbClr val="000000">
                    <a:alpha val="88627"/>
                  </a:srgbClr>
                </a:solidFill>
                <a:prstDash val="solid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66675"/>
                <a:ext cx="767676" cy="2594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76237" y="105788"/>
              <a:ext cx="3076598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1341C">
                      <a:alpha val="88627"/>
                    </a:srgbClr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Introduction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256025" y="72561"/>
            <a:ext cx="3141887" cy="784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8"/>
              </a:lnSpc>
              <a:spcBef>
                <a:spcPct val="0"/>
              </a:spcBef>
            </a:pPr>
            <a:r>
              <a:rPr lang="en-US" sz="4084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Background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71159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Conclusion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6431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Methods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41788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Results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30402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Discussion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028700" y="3975973"/>
            <a:ext cx="8106034" cy="4853488"/>
          </a:xfrm>
          <a:custGeom>
            <a:avLst/>
            <a:gdLst/>
            <a:ahLst/>
            <a:cxnLst/>
            <a:rect r="r" b="b" t="t" l="l"/>
            <a:pathLst>
              <a:path h="4853488" w="8106034">
                <a:moveTo>
                  <a:pt x="0" y="0"/>
                </a:moveTo>
                <a:lnTo>
                  <a:pt x="8106034" y="0"/>
                </a:lnTo>
                <a:lnTo>
                  <a:pt x="8106034" y="4853487"/>
                </a:lnTo>
                <a:lnTo>
                  <a:pt x="0" y="48534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9941788" y="4606469"/>
            <a:ext cx="6854952" cy="1064885"/>
            <a:chOff x="0" y="0"/>
            <a:chExt cx="13423900" cy="20853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6350" y="6350"/>
              <a:ext cx="134112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3411200">
                  <a:moveTo>
                    <a:pt x="0" y="124333"/>
                  </a:moveTo>
                  <a:cubicBezTo>
                    <a:pt x="0" y="55626"/>
                    <a:pt x="56007" y="0"/>
                    <a:pt x="124968" y="0"/>
                  </a:cubicBezTo>
                  <a:lnTo>
                    <a:pt x="13286232" y="0"/>
                  </a:lnTo>
                  <a:cubicBezTo>
                    <a:pt x="13355321" y="0"/>
                    <a:pt x="13411200" y="55626"/>
                    <a:pt x="13411200" y="124333"/>
                  </a:cubicBezTo>
                  <a:lnTo>
                    <a:pt x="13411200" y="1948307"/>
                  </a:lnTo>
                  <a:cubicBezTo>
                    <a:pt x="13411200" y="2017014"/>
                    <a:pt x="13355194" y="2072640"/>
                    <a:pt x="13286232" y="2072640"/>
                  </a:cubicBezTo>
                  <a:lnTo>
                    <a:pt x="124968" y="2072640"/>
                  </a:lnTo>
                  <a:cubicBezTo>
                    <a:pt x="55880" y="2072640"/>
                    <a:pt x="0" y="2017014"/>
                    <a:pt x="0" y="194830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423900" cy="2085340"/>
            </a:xfrm>
            <a:custGeom>
              <a:avLst/>
              <a:gdLst/>
              <a:ahLst/>
              <a:cxnLst/>
              <a:rect r="r" b="b" t="t" l="l"/>
              <a:pathLst>
                <a:path h="2085340" w="13423900">
                  <a:moveTo>
                    <a:pt x="0" y="130683"/>
                  </a:moveTo>
                  <a:cubicBezTo>
                    <a:pt x="0" y="58547"/>
                    <a:pt x="58801" y="0"/>
                    <a:pt x="131318" y="0"/>
                  </a:cubicBezTo>
                  <a:lnTo>
                    <a:pt x="13292582" y="0"/>
                  </a:lnTo>
                  <a:lnTo>
                    <a:pt x="13292582" y="6350"/>
                  </a:lnTo>
                  <a:lnTo>
                    <a:pt x="13292582" y="0"/>
                  </a:lnTo>
                  <a:cubicBezTo>
                    <a:pt x="13365099" y="0"/>
                    <a:pt x="13423900" y="58547"/>
                    <a:pt x="13423900" y="130683"/>
                  </a:cubicBezTo>
                  <a:lnTo>
                    <a:pt x="13417550" y="130683"/>
                  </a:lnTo>
                  <a:lnTo>
                    <a:pt x="13423900" y="130683"/>
                  </a:lnTo>
                  <a:lnTo>
                    <a:pt x="13423900" y="1954657"/>
                  </a:lnTo>
                  <a:lnTo>
                    <a:pt x="13417550" y="1954657"/>
                  </a:lnTo>
                  <a:lnTo>
                    <a:pt x="13423900" y="1954657"/>
                  </a:lnTo>
                  <a:cubicBezTo>
                    <a:pt x="13423900" y="2026920"/>
                    <a:pt x="13365099" y="2085340"/>
                    <a:pt x="13292582" y="2085340"/>
                  </a:cubicBezTo>
                  <a:lnTo>
                    <a:pt x="13292582" y="2078990"/>
                  </a:lnTo>
                  <a:lnTo>
                    <a:pt x="13292582" y="2085340"/>
                  </a:lnTo>
                  <a:lnTo>
                    <a:pt x="131318" y="2085340"/>
                  </a:lnTo>
                  <a:lnTo>
                    <a:pt x="131318" y="2078990"/>
                  </a:lnTo>
                  <a:lnTo>
                    <a:pt x="131318" y="2085340"/>
                  </a:lnTo>
                  <a:cubicBezTo>
                    <a:pt x="58801" y="2085340"/>
                    <a:pt x="0" y="2026793"/>
                    <a:pt x="0" y="1954657"/>
                  </a:cubicBezTo>
                  <a:lnTo>
                    <a:pt x="0" y="130683"/>
                  </a:lnTo>
                  <a:lnTo>
                    <a:pt x="6350" y="130683"/>
                  </a:lnTo>
                  <a:lnTo>
                    <a:pt x="0" y="130683"/>
                  </a:lnTo>
                  <a:moveTo>
                    <a:pt x="12700" y="130683"/>
                  </a:moveTo>
                  <a:lnTo>
                    <a:pt x="12700" y="1954657"/>
                  </a:lnTo>
                  <a:lnTo>
                    <a:pt x="6350" y="1954657"/>
                  </a:lnTo>
                  <a:lnTo>
                    <a:pt x="12700" y="1954657"/>
                  </a:lnTo>
                  <a:cubicBezTo>
                    <a:pt x="12700" y="2019808"/>
                    <a:pt x="65786" y="2072640"/>
                    <a:pt x="131318" y="2072640"/>
                  </a:cubicBezTo>
                  <a:lnTo>
                    <a:pt x="13292582" y="2072640"/>
                  </a:lnTo>
                  <a:cubicBezTo>
                    <a:pt x="13358115" y="2072640"/>
                    <a:pt x="13411200" y="2019808"/>
                    <a:pt x="13411200" y="1954657"/>
                  </a:cubicBezTo>
                  <a:lnTo>
                    <a:pt x="13411200" y="130683"/>
                  </a:lnTo>
                  <a:cubicBezTo>
                    <a:pt x="13411200" y="65532"/>
                    <a:pt x="13358115" y="12700"/>
                    <a:pt x="13292582" y="12700"/>
                  </a:cubicBezTo>
                  <a:lnTo>
                    <a:pt x="131318" y="12700"/>
                  </a:lnTo>
                  <a:lnTo>
                    <a:pt x="131318" y="6350"/>
                  </a:lnTo>
                  <a:lnTo>
                    <a:pt x="131318" y="12700"/>
                  </a:lnTo>
                  <a:cubicBezTo>
                    <a:pt x="65786" y="12700"/>
                    <a:pt x="12700" y="65532"/>
                    <a:pt x="12700" y="130683"/>
                  </a:cubicBezTo>
                  <a:close/>
                </a:path>
              </a:pathLst>
            </a:custGeom>
            <a:solidFill>
              <a:srgbClr val="CCDDD2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945030" y="4609711"/>
            <a:ext cx="62259" cy="1058399"/>
            <a:chOff x="0" y="0"/>
            <a:chExt cx="121920" cy="2072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19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2192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cubicBezTo>
                    <a:pt x="94615" y="0"/>
                    <a:pt x="121920" y="27305"/>
                    <a:pt x="121920" y="60960"/>
                  </a:cubicBezTo>
                  <a:lnTo>
                    <a:pt x="121920" y="2011680"/>
                  </a:lnTo>
                  <a:cubicBezTo>
                    <a:pt x="121920" y="2045335"/>
                    <a:pt x="94615" y="2072640"/>
                    <a:pt x="60960" y="2072640"/>
                  </a:cubicBezTo>
                  <a:cubicBezTo>
                    <a:pt x="27305" y="2072640"/>
                    <a:pt x="0" y="2045335"/>
                    <a:pt x="0" y="201168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131807" y="4808567"/>
            <a:ext cx="6506044" cy="274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0"/>
              </a:lnSpc>
            </a:pPr>
            <a:r>
              <a:rPr lang="en-US" sz="1712" b="true">
                <a:solidFill>
                  <a:srgbClr val="1A2E2A"/>
                </a:solidFill>
                <a:latin typeface="DM Sans Bold"/>
                <a:ea typeface="DM Sans Bold"/>
                <a:cs typeface="DM Sans Bold"/>
                <a:sym typeface="DM Sans Bold"/>
              </a:rPr>
              <a:t>Genetic + circuit access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131807" y="5144020"/>
            <a:ext cx="6506044" cy="282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6"/>
              </a:lnSpc>
            </a:pPr>
            <a:r>
              <a:rPr lang="en-US" sz="1479">
                <a:solidFill>
                  <a:srgbClr val="4A5C57"/>
                </a:solidFill>
                <a:latin typeface="Inter"/>
                <a:ea typeface="Inter"/>
                <a:cs typeface="Inter"/>
                <a:sym typeface="Inter"/>
              </a:rPr>
              <a:t>Tools to label neurons by type, silence them, watch them — at scale.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941788" y="5888904"/>
            <a:ext cx="6854952" cy="1064885"/>
            <a:chOff x="0" y="0"/>
            <a:chExt cx="13423900" cy="20853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6350" y="6350"/>
              <a:ext cx="134112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3411200">
                  <a:moveTo>
                    <a:pt x="0" y="124333"/>
                  </a:moveTo>
                  <a:cubicBezTo>
                    <a:pt x="0" y="55626"/>
                    <a:pt x="56007" y="0"/>
                    <a:pt x="124968" y="0"/>
                  </a:cubicBezTo>
                  <a:lnTo>
                    <a:pt x="13286232" y="0"/>
                  </a:lnTo>
                  <a:cubicBezTo>
                    <a:pt x="13355321" y="0"/>
                    <a:pt x="13411200" y="55626"/>
                    <a:pt x="13411200" y="124333"/>
                  </a:cubicBezTo>
                  <a:lnTo>
                    <a:pt x="13411200" y="1948307"/>
                  </a:lnTo>
                  <a:cubicBezTo>
                    <a:pt x="13411200" y="2017014"/>
                    <a:pt x="13355194" y="2072640"/>
                    <a:pt x="13286232" y="2072640"/>
                  </a:cubicBezTo>
                  <a:lnTo>
                    <a:pt x="124968" y="2072640"/>
                  </a:lnTo>
                  <a:cubicBezTo>
                    <a:pt x="55880" y="2072640"/>
                    <a:pt x="0" y="2017014"/>
                    <a:pt x="0" y="194830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423900" cy="2085340"/>
            </a:xfrm>
            <a:custGeom>
              <a:avLst/>
              <a:gdLst/>
              <a:ahLst/>
              <a:cxnLst/>
              <a:rect r="r" b="b" t="t" l="l"/>
              <a:pathLst>
                <a:path h="2085340" w="13423900">
                  <a:moveTo>
                    <a:pt x="0" y="130683"/>
                  </a:moveTo>
                  <a:cubicBezTo>
                    <a:pt x="0" y="58547"/>
                    <a:pt x="58801" y="0"/>
                    <a:pt x="131318" y="0"/>
                  </a:cubicBezTo>
                  <a:lnTo>
                    <a:pt x="13292582" y="0"/>
                  </a:lnTo>
                  <a:lnTo>
                    <a:pt x="13292582" y="6350"/>
                  </a:lnTo>
                  <a:lnTo>
                    <a:pt x="13292582" y="0"/>
                  </a:lnTo>
                  <a:cubicBezTo>
                    <a:pt x="13365099" y="0"/>
                    <a:pt x="13423900" y="58547"/>
                    <a:pt x="13423900" y="130683"/>
                  </a:cubicBezTo>
                  <a:lnTo>
                    <a:pt x="13417550" y="130683"/>
                  </a:lnTo>
                  <a:lnTo>
                    <a:pt x="13423900" y="130683"/>
                  </a:lnTo>
                  <a:lnTo>
                    <a:pt x="13423900" y="1954657"/>
                  </a:lnTo>
                  <a:lnTo>
                    <a:pt x="13417550" y="1954657"/>
                  </a:lnTo>
                  <a:lnTo>
                    <a:pt x="13423900" y="1954657"/>
                  </a:lnTo>
                  <a:cubicBezTo>
                    <a:pt x="13423900" y="2026920"/>
                    <a:pt x="13365099" y="2085340"/>
                    <a:pt x="13292582" y="2085340"/>
                  </a:cubicBezTo>
                  <a:lnTo>
                    <a:pt x="13292582" y="2078990"/>
                  </a:lnTo>
                  <a:lnTo>
                    <a:pt x="13292582" y="2085340"/>
                  </a:lnTo>
                  <a:lnTo>
                    <a:pt x="131318" y="2085340"/>
                  </a:lnTo>
                  <a:lnTo>
                    <a:pt x="131318" y="2078990"/>
                  </a:lnTo>
                  <a:lnTo>
                    <a:pt x="131318" y="2085340"/>
                  </a:lnTo>
                  <a:cubicBezTo>
                    <a:pt x="58801" y="2085340"/>
                    <a:pt x="0" y="2026793"/>
                    <a:pt x="0" y="1954657"/>
                  </a:cubicBezTo>
                  <a:lnTo>
                    <a:pt x="0" y="130683"/>
                  </a:lnTo>
                  <a:lnTo>
                    <a:pt x="6350" y="130683"/>
                  </a:lnTo>
                  <a:lnTo>
                    <a:pt x="0" y="130683"/>
                  </a:lnTo>
                  <a:moveTo>
                    <a:pt x="12700" y="130683"/>
                  </a:moveTo>
                  <a:lnTo>
                    <a:pt x="12700" y="1954657"/>
                  </a:lnTo>
                  <a:lnTo>
                    <a:pt x="6350" y="1954657"/>
                  </a:lnTo>
                  <a:lnTo>
                    <a:pt x="12700" y="1954657"/>
                  </a:lnTo>
                  <a:cubicBezTo>
                    <a:pt x="12700" y="2019808"/>
                    <a:pt x="65786" y="2072640"/>
                    <a:pt x="131318" y="2072640"/>
                  </a:cubicBezTo>
                  <a:lnTo>
                    <a:pt x="13292582" y="2072640"/>
                  </a:lnTo>
                  <a:cubicBezTo>
                    <a:pt x="13358115" y="2072640"/>
                    <a:pt x="13411200" y="2019808"/>
                    <a:pt x="13411200" y="1954657"/>
                  </a:cubicBezTo>
                  <a:lnTo>
                    <a:pt x="13411200" y="130683"/>
                  </a:lnTo>
                  <a:cubicBezTo>
                    <a:pt x="13411200" y="65532"/>
                    <a:pt x="13358115" y="12700"/>
                    <a:pt x="13292582" y="12700"/>
                  </a:cubicBezTo>
                  <a:lnTo>
                    <a:pt x="131318" y="12700"/>
                  </a:lnTo>
                  <a:lnTo>
                    <a:pt x="131318" y="6350"/>
                  </a:lnTo>
                  <a:lnTo>
                    <a:pt x="131318" y="12700"/>
                  </a:lnTo>
                  <a:cubicBezTo>
                    <a:pt x="65786" y="12700"/>
                    <a:pt x="12700" y="65532"/>
                    <a:pt x="12700" y="130683"/>
                  </a:cubicBezTo>
                  <a:close/>
                </a:path>
              </a:pathLst>
            </a:custGeom>
            <a:solidFill>
              <a:srgbClr val="CCDDD2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945030" y="5892147"/>
            <a:ext cx="62259" cy="1058399"/>
            <a:chOff x="0" y="0"/>
            <a:chExt cx="121920" cy="2072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19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2192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cubicBezTo>
                    <a:pt x="94615" y="0"/>
                    <a:pt x="121920" y="27305"/>
                    <a:pt x="121920" y="60960"/>
                  </a:cubicBezTo>
                  <a:lnTo>
                    <a:pt x="121920" y="2011680"/>
                  </a:lnTo>
                  <a:cubicBezTo>
                    <a:pt x="121920" y="2045335"/>
                    <a:pt x="94615" y="2072640"/>
                    <a:pt x="60960" y="2072640"/>
                  </a:cubicBezTo>
                  <a:cubicBezTo>
                    <a:pt x="27305" y="2072640"/>
                    <a:pt x="0" y="2045335"/>
                    <a:pt x="0" y="201168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0131807" y="6091002"/>
            <a:ext cx="6506044" cy="274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0"/>
              </a:lnSpc>
            </a:pPr>
            <a:r>
              <a:rPr lang="en-US" sz="1712" b="true">
                <a:solidFill>
                  <a:srgbClr val="1A2E2A"/>
                </a:solidFill>
                <a:latin typeface="DM Sans Bold"/>
                <a:ea typeface="DM Sans Bold"/>
                <a:cs typeface="DM Sans Bold"/>
                <a:sym typeface="DM Sans Bold"/>
              </a:rPr>
              <a:t>Comparable cortical layout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131807" y="6426455"/>
            <a:ext cx="6506044" cy="282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6"/>
              </a:lnSpc>
            </a:pPr>
            <a:r>
              <a:rPr lang="en-US" sz="1479">
                <a:solidFill>
                  <a:srgbClr val="4A5C57"/>
                </a:solidFill>
                <a:latin typeface="Inter"/>
                <a:ea typeface="Inter"/>
                <a:cs typeface="Inter"/>
                <a:sym typeface="Inter"/>
              </a:rPr>
              <a:t>Same 6-layer plan, same major sensory areas, scaled smaller.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941788" y="7134080"/>
            <a:ext cx="6854952" cy="1064885"/>
            <a:chOff x="0" y="0"/>
            <a:chExt cx="13423900" cy="20853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6350" y="6350"/>
              <a:ext cx="134112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3411200">
                  <a:moveTo>
                    <a:pt x="0" y="124333"/>
                  </a:moveTo>
                  <a:cubicBezTo>
                    <a:pt x="0" y="55626"/>
                    <a:pt x="56007" y="0"/>
                    <a:pt x="124968" y="0"/>
                  </a:cubicBezTo>
                  <a:lnTo>
                    <a:pt x="13286232" y="0"/>
                  </a:lnTo>
                  <a:cubicBezTo>
                    <a:pt x="13355321" y="0"/>
                    <a:pt x="13411200" y="55626"/>
                    <a:pt x="13411200" y="124333"/>
                  </a:cubicBezTo>
                  <a:lnTo>
                    <a:pt x="13411200" y="1948307"/>
                  </a:lnTo>
                  <a:cubicBezTo>
                    <a:pt x="13411200" y="2017014"/>
                    <a:pt x="13355194" y="2072640"/>
                    <a:pt x="13286232" y="2072640"/>
                  </a:cubicBezTo>
                  <a:lnTo>
                    <a:pt x="124968" y="2072640"/>
                  </a:lnTo>
                  <a:cubicBezTo>
                    <a:pt x="55880" y="2072640"/>
                    <a:pt x="0" y="2017014"/>
                    <a:pt x="0" y="194830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423900" cy="2085340"/>
            </a:xfrm>
            <a:custGeom>
              <a:avLst/>
              <a:gdLst/>
              <a:ahLst/>
              <a:cxnLst/>
              <a:rect r="r" b="b" t="t" l="l"/>
              <a:pathLst>
                <a:path h="2085340" w="13423900">
                  <a:moveTo>
                    <a:pt x="0" y="130683"/>
                  </a:moveTo>
                  <a:cubicBezTo>
                    <a:pt x="0" y="58547"/>
                    <a:pt x="58801" y="0"/>
                    <a:pt x="131318" y="0"/>
                  </a:cubicBezTo>
                  <a:lnTo>
                    <a:pt x="13292582" y="0"/>
                  </a:lnTo>
                  <a:lnTo>
                    <a:pt x="13292582" y="6350"/>
                  </a:lnTo>
                  <a:lnTo>
                    <a:pt x="13292582" y="0"/>
                  </a:lnTo>
                  <a:cubicBezTo>
                    <a:pt x="13365099" y="0"/>
                    <a:pt x="13423900" y="58547"/>
                    <a:pt x="13423900" y="130683"/>
                  </a:cubicBezTo>
                  <a:lnTo>
                    <a:pt x="13417550" y="130683"/>
                  </a:lnTo>
                  <a:lnTo>
                    <a:pt x="13423900" y="130683"/>
                  </a:lnTo>
                  <a:lnTo>
                    <a:pt x="13423900" y="1954657"/>
                  </a:lnTo>
                  <a:lnTo>
                    <a:pt x="13417550" y="1954657"/>
                  </a:lnTo>
                  <a:lnTo>
                    <a:pt x="13423900" y="1954657"/>
                  </a:lnTo>
                  <a:cubicBezTo>
                    <a:pt x="13423900" y="2026920"/>
                    <a:pt x="13365099" y="2085340"/>
                    <a:pt x="13292582" y="2085340"/>
                  </a:cubicBezTo>
                  <a:lnTo>
                    <a:pt x="13292582" y="2078990"/>
                  </a:lnTo>
                  <a:lnTo>
                    <a:pt x="13292582" y="2085340"/>
                  </a:lnTo>
                  <a:lnTo>
                    <a:pt x="131318" y="2085340"/>
                  </a:lnTo>
                  <a:lnTo>
                    <a:pt x="131318" y="2078990"/>
                  </a:lnTo>
                  <a:lnTo>
                    <a:pt x="131318" y="2085340"/>
                  </a:lnTo>
                  <a:cubicBezTo>
                    <a:pt x="58801" y="2085340"/>
                    <a:pt x="0" y="2026793"/>
                    <a:pt x="0" y="1954657"/>
                  </a:cubicBezTo>
                  <a:lnTo>
                    <a:pt x="0" y="130683"/>
                  </a:lnTo>
                  <a:lnTo>
                    <a:pt x="6350" y="130683"/>
                  </a:lnTo>
                  <a:lnTo>
                    <a:pt x="0" y="130683"/>
                  </a:lnTo>
                  <a:moveTo>
                    <a:pt x="12700" y="130683"/>
                  </a:moveTo>
                  <a:lnTo>
                    <a:pt x="12700" y="1954657"/>
                  </a:lnTo>
                  <a:lnTo>
                    <a:pt x="6350" y="1954657"/>
                  </a:lnTo>
                  <a:lnTo>
                    <a:pt x="12700" y="1954657"/>
                  </a:lnTo>
                  <a:cubicBezTo>
                    <a:pt x="12700" y="2019808"/>
                    <a:pt x="65786" y="2072640"/>
                    <a:pt x="131318" y="2072640"/>
                  </a:cubicBezTo>
                  <a:lnTo>
                    <a:pt x="13292582" y="2072640"/>
                  </a:lnTo>
                  <a:cubicBezTo>
                    <a:pt x="13358115" y="2072640"/>
                    <a:pt x="13411200" y="2019808"/>
                    <a:pt x="13411200" y="1954657"/>
                  </a:cubicBezTo>
                  <a:lnTo>
                    <a:pt x="13411200" y="130683"/>
                  </a:lnTo>
                  <a:cubicBezTo>
                    <a:pt x="13411200" y="65532"/>
                    <a:pt x="13358115" y="12700"/>
                    <a:pt x="13292582" y="12700"/>
                  </a:cubicBezTo>
                  <a:lnTo>
                    <a:pt x="131318" y="12700"/>
                  </a:lnTo>
                  <a:lnTo>
                    <a:pt x="131318" y="6350"/>
                  </a:lnTo>
                  <a:lnTo>
                    <a:pt x="131318" y="12700"/>
                  </a:lnTo>
                  <a:cubicBezTo>
                    <a:pt x="65786" y="12700"/>
                    <a:pt x="12700" y="65532"/>
                    <a:pt x="12700" y="130683"/>
                  </a:cubicBezTo>
                  <a:close/>
                </a:path>
              </a:pathLst>
            </a:custGeom>
            <a:solidFill>
              <a:srgbClr val="CCDDD2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945030" y="7137323"/>
            <a:ext cx="62259" cy="1058399"/>
            <a:chOff x="0" y="0"/>
            <a:chExt cx="121920" cy="2072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19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2192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cubicBezTo>
                    <a:pt x="94615" y="0"/>
                    <a:pt x="121920" y="27305"/>
                    <a:pt x="121920" y="60960"/>
                  </a:cubicBezTo>
                  <a:lnTo>
                    <a:pt x="121920" y="2011680"/>
                  </a:lnTo>
                  <a:cubicBezTo>
                    <a:pt x="121920" y="2045335"/>
                    <a:pt x="94615" y="2072640"/>
                    <a:pt x="60960" y="2072640"/>
                  </a:cubicBezTo>
                  <a:cubicBezTo>
                    <a:pt x="27305" y="2072640"/>
                    <a:pt x="0" y="2045335"/>
                    <a:pt x="0" y="2011680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0131807" y="7336178"/>
            <a:ext cx="6506044" cy="274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0"/>
              </a:lnSpc>
            </a:pPr>
            <a:r>
              <a:rPr lang="en-US" sz="1712" b="true">
                <a:solidFill>
                  <a:srgbClr val="1A2E2A"/>
                </a:solidFill>
                <a:latin typeface="DM Sans Bold"/>
                <a:ea typeface="DM Sans Bold"/>
                <a:cs typeface="DM Sans Bold"/>
                <a:sym typeface="DM Sans Bold"/>
              </a:rPr>
              <a:t>Behaviorally rich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131807" y="7671631"/>
            <a:ext cx="6506044" cy="28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6"/>
              </a:lnSpc>
            </a:pPr>
            <a:r>
              <a:rPr lang="en-US" sz="1479">
                <a:solidFill>
                  <a:srgbClr val="4A5C57"/>
                </a:solidFill>
                <a:latin typeface="Inter"/>
                <a:ea typeface="Inter"/>
                <a:cs typeface="Inter"/>
                <a:sym typeface="Inter"/>
              </a:rPr>
              <a:t>Mice discriminate, generalize, and remember complex sounds.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7612484" y="1461359"/>
            <a:ext cx="3063032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Mouse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50458" y="9570842"/>
            <a:ext cx="16230600" cy="57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Auditory processing in rodent models of autism: a systematic review - Scientific Figure on ResearchGate. Available from: https://www.researchgate.net/figure/Key-structures-in-the-auditory-processing-pathway-in-the-human-and-mouse-brain-Auditory_fig1_363127377 [accessed 8 May 2026]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0" y="0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71804" y="0"/>
            <a:ext cx="3910329" cy="930254"/>
            <a:chOff x="0" y="0"/>
            <a:chExt cx="767676" cy="1826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7676" cy="182628"/>
            </a:xfrm>
            <a:custGeom>
              <a:avLst/>
              <a:gdLst/>
              <a:ahLst/>
              <a:cxnLst/>
              <a:rect r="r" b="b" t="t" l="l"/>
              <a:pathLst>
                <a:path h="182628" w="767676">
                  <a:moveTo>
                    <a:pt x="59396" y="0"/>
                  </a:moveTo>
                  <a:lnTo>
                    <a:pt x="708281" y="0"/>
                  </a:lnTo>
                  <a:cubicBezTo>
                    <a:pt x="724033" y="0"/>
                    <a:pt x="739141" y="6258"/>
                    <a:pt x="750280" y="17397"/>
                  </a:cubicBezTo>
                  <a:cubicBezTo>
                    <a:pt x="761419" y="28536"/>
                    <a:pt x="767676" y="43643"/>
                    <a:pt x="767676" y="59396"/>
                  </a:cubicBezTo>
                  <a:lnTo>
                    <a:pt x="767676" y="123232"/>
                  </a:lnTo>
                  <a:cubicBezTo>
                    <a:pt x="767676" y="138985"/>
                    <a:pt x="761419" y="154092"/>
                    <a:pt x="750280" y="165231"/>
                  </a:cubicBezTo>
                  <a:cubicBezTo>
                    <a:pt x="739141" y="176370"/>
                    <a:pt x="724033" y="182628"/>
                    <a:pt x="708281" y="182628"/>
                  </a:cubicBezTo>
                  <a:lnTo>
                    <a:pt x="59396" y="182628"/>
                  </a:lnTo>
                  <a:cubicBezTo>
                    <a:pt x="43643" y="182628"/>
                    <a:pt x="28536" y="176370"/>
                    <a:pt x="17397" y="165231"/>
                  </a:cubicBezTo>
                  <a:cubicBezTo>
                    <a:pt x="6258" y="154092"/>
                    <a:pt x="0" y="138985"/>
                    <a:pt x="0" y="123232"/>
                  </a:cubicBezTo>
                  <a:lnTo>
                    <a:pt x="0" y="59396"/>
                  </a:lnTo>
                  <a:cubicBezTo>
                    <a:pt x="0" y="43643"/>
                    <a:pt x="6258" y="28536"/>
                    <a:pt x="17397" y="17397"/>
                  </a:cubicBezTo>
                  <a:cubicBezTo>
                    <a:pt x="28536" y="6258"/>
                    <a:pt x="43643" y="0"/>
                    <a:pt x="59396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767676" cy="249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82134" y="0"/>
            <a:ext cx="2871804" cy="709475"/>
            <a:chOff x="0" y="0"/>
            <a:chExt cx="767676" cy="1896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63322" y="0"/>
            <a:ext cx="2871804" cy="709475"/>
            <a:chOff x="0" y="0"/>
            <a:chExt cx="767676" cy="1896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3097156" y="-47344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544511" y="0"/>
            <a:ext cx="2871804" cy="709475"/>
            <a:chOff x="0" y="0"/>
            <a:chExt cx="767676" cy="1896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416196" y="0"/>
            <a:ext cx="2871804" cy="709475"/>
            <a:chOff x="0" y="0"/>
            <a:chExt cx="767676" cy="1896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0" y="0"/>
            <a:ext cx="2871804" cy="720993"/>
            <a:chOff x="0" y="0"/>
            <a:chExt cx="3829072" cy="961324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3829072" cy="961324"/>
              <a:chOff x="0" y="0"/>
              <a:chExt cx="767676" cy="19273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67676" cy="192732"/>
              </a:xfrm>
              <a:custGeom>
                <a:avLst/>
                <a:gdLst/>
                <a:ahLst/>
                <a:cxnLst/>
                <a:rect r="r" b="b" t="t" l="l"/>
                <a:pathLst>
                  <a:path h="192732" w="767676">
                    <a:moveTo>
                      <a:pt x="80875" y="0"/>
                    </a:moveTo>
                    <a:lnTo>
                      <a:pt x="686801" y="0"/>
                    </a:lnTo>
                    <a:cubicBezTo>
                      <a:pt x="708251" y="0"/>
                      <a:pt x="728822" y="8521"/>
                      <a:pt x="743989" y="23688"/>
                    </a:cubicBezTo>
                    <a:cubicBezTo>
                      <a:pt x="759156" y="38855"/>
                      <a:pt x="767676" y="59426"/>
                      <a:pt x="767676" y="80875"/>
                    </a:cubicBezTo>
                    <a:lnTo>
                      <a:pt x="767676" y="111857"/>
                    </a:lnTo>
                    <a:cubicBezTo>
                      <a:pt x="767676" y="133307"/>
                      <a:pt x="759156" y="153877"/>
                      <a:pt x="743989" y="169044"/>
                    </a:cubicBezTo>
                    <a:cubicBezTo>
                      <a:pt x="728822" y="184212"/>
                      <a:pt x="708251" y="192732"/>
                      <a:pt x="686801" y="192732"/>
                    </a:cubicBezTo>
                    <a:lnTo>
                      <a:pt x="80875" y="192732"/>
                    </a:lnTo>
                    <a:cubicBezTo>
                      <a:pt x="59426" y="192732"/>
                      <a:pt x="38855" y="184212"/>
                      <a:pt x="23688" y="169044"/>
                    </a:cubicBezTo>
                    <a:cubicBezTo>
                      <a:pt x="8521" y="153877"/>
                      <a:pt x="0" y="133307"/>
                      <a:pt x="0" y="111857"/>
                    </a:cubicBezTo>
                    <a:lnTo>
                      <a:pt x="0" y="80875"/>
                    </a:lnTo>
                    <a:cubicBezTo>
                      <a:pt x="0" y="59426"/>
                      <a:pt x="8521" y="38855"/>
                      <a:pt x="23688" y="23688"/>
                    </a:cubicBezTo>
                    <a:cubicBezTo>
                      <a:pt x="38855" y="8521"/>
                      <a:pt x="59426" y="0"/>
                      <a:pt x="80875" y="0"/>
                    </a:cubicBezTo>
                    <a:close/>
                  </a:path>
                </a:pathLst>
              </a:custGeom>
              <a:solidFill>
                <a:srgbClr val="78AF95">
                  <a:alpha val="88627"/>
                </a:srgbClr>
              </a:solidFill>
              <a:ln w="38100" cap="rnd">
                <a:solidFill>
                  <a:srgbClr val="000000">
                    <a:alpha val="88627"/>
                  </a:srgbClr>
                </a:solidFill>
                <a:prstDash val="solid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66675"/>
                <a:ext cx="767676" cy="2594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76237" y="105788"/>
              <a:ext cx="3076598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1341C">
                      <a:alpha val="88627"/>
                    </a:srgbClr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Introduction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256025" y="72561"/>
            <a:ext cx="3141887" cy="784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8"/>
              </a:lnSpc>
              <a:spcBef>
                <a:spcPct val="0"/>
              </a:spcBef>
            </a:pPr>
            <a:r>
              <a:rPr lang="en-US" sz="4084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Background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71159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Conclusion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6431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Methods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41788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Results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30402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Discussion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591794" y="1461359"/>
            <a:ext cx="9104412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Cortical Subregions in Mouse AC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799674" y="3448909"/>
            <a:ext cx="8901973" cy="5466124"/>
          </a:xfrm>
          <a:custGeom>
            <a:avLst/>
            <a:gdLst/>
            <a:ahLst/>
            <a:cxnLst/>
            <a:rect r="r" b="b" t="t" l="l"/>
            <a:pathLst>
              <a:path h="5466124" w="8901973">
                <a:moveTo>
                  <a:pt x="0" y="0"/>
                </a:moveTo>
                <a:lnTo>
                  <a:pt x="8901973" y="0"/>
                </a:lnTo>
                <a:lnTo>
                  <a:pt x="8901973" y="5466124"/>
                </a:lnTo>
                <a:lnTo>
                  <a:pt x="0" y="54661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0" y="0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71804" y="0"/>
            <a:ext cx="3910329" cy="930254"/>
            <a:chOff x="0" y="0"/>
            <a:chExt cx="767676" cy="1826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7676" cy="182628"/>
            </a:xfrm>
            <a:custGeom>
              <a:avLst/>
              <a:gdLst/>
              <a:ahLst/>
              <a:cxnLst/>
              <a:rect r="r" b="b" t="t" l="l"/>
              <a:pathLst>
                <a:path h="182628" w="767676">
                  <a:moveTo>
                    <a:pt x="59396" y="0"/>
                  </a:moveTo>
                  <a:lnTo>
                    <a:pt x="708281" y="0"/>
                  </a:lnTo>
                  <a:cubicBezTo>
                    <a:pt x="724033" y="0"/>
                    <a:pt x="739141" y="6258"/>
                    <a:pt x="750280" y="17397"/>
                  </a:cubicBezTo>
                  <a:cubicBezTo>
                    <a:pt x="761419" y="28536"/>
                    <a:pt x="767676" y="43643"/>
                    <a:pt x="767676" y="59396"/>
                  </a:cubicBezTo>
                  <a:lnTo>
                    <a:pt x="767676" y="123232"/>
                  </a:lnTo>
                  <a:cubicBezTo>
                    <a:pt x="767676" y="138985"/>
                    <a:pt x="761419" y="154092"/>
                    <a:pt x="750280" y="165231"/>
                  </a:cubicBezTo>
                  <a:cubicBezTo>
                    <a:pt x="739141" y="176370"/>
                    <a:pt x="724033" y="182628"/>
                    <a:pt x="708281" y="182628"/>
                  </a:cubicBezTo>
                  <a:lnTo>
                    <a:pt x="59396" y="182628"/>
                  </a:lnTo>
                  <a:cubicBezTo>
                    <a:pt x="43643" y="182628"/>
                    <a:pt x="28536" y="176370"/>
                    <a:pt x="17397" y="165231"/>
                  </a:cubicBezTo>
                  <a:cubicBezTo>
                    <a:pt x="6258" y="154092"/>
                    <a:pt x="0" y="138985"/>
                    <a:pt x="0" y="123232"/>
                  </a:cubicBezTo>
                  <a:lnTo>
                    <a:pt x="0" y="59396"/>
                  </a:lnTo>
                  <a:cubicBezTo>
                    <a:pt x="0" y="43643"/>
                    <a:pt x="6258" y="28536"/>
                    <a:pt x="17397" y="17397"/>
                  </a:cubicBezTo>
                  <a:cubicBezTo>
                    <a:pt x="28536" y="6258"/>
                    <a:pt x="43643" y="0"/>
                    <a:pt x="59396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767676" cy="249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82134" y="0"/>
            <a:ext cx="2871804" cy="709475"/>
            <a:chOff x="0" y="0"/>
            <a:chExt cx="767676" cy="1896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63322" y="0"/>
            <a:ext cx="2871804" cy="709475"/>
            <a:chOff x="0" y="0"/>
            <a:chExt cx="767676" cy="1896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3097156" y="-47344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544511" y="0"/>
            <a:ext cx="2871804" cy="709475"/>
            <a:chOff x="0" y="0"/>
            <a:chExt cx="767676" cy="1896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416196" y="0"/>
            <a:ext cx="2871804" cy="709475"/>
            <a:chOff x="0" y="0"/>
            <a:chExt cx="767676" cy="1896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0" y="0"/>
            <a:ext cx="2871804" cy="720993"/>
            <a:chOff x="0" y="0"/>
            <a:chExt cx="3829072" cy="961324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3829072" cy="961324"/>
              <a:chOff x="0" y="0"/>
              <a:chExt cx="767676" cy="19273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67676" cy="192732"/>
              </a:xfrm>
              <a:custGeom>
                <a:avLst/>
                <a:gdLst/>
                <a:ahLst/>
                <a:cxnLst/>
                <a:rect r="r" b="b" t="t" l="l"/>
                <a:pathLst>
                  <a:path h="192732" w="767676">
                    <a:moveTo>
                      <a:pt x="80875" y="0"/>
                    </a:moveTo>
                    <a:lnTo>
                      <a:pt x="686801" y="0"/>
                    </a:lnTo>
                    <a:cubicBezTo>
                      <a:pt x="708251" y="0"/>
                      <a:pt x="728822" y="8521"/>
                      <a:pt x="743989" y="23688"/>
                    </a:cubicBezTo>
                    <a:cubicBezTo>
                      <a:pt x="759156" y="38855"/>
                      <a:pt x="767676" y="59426"/>
                      <a:pt x="767676" y="80875"/>
                    </a:cubicBezTo>
                    <a:lnTo>
                      <a:pt x="767676" y="111857"/>
                    </a:lnTo>
                    <a:cubicBezTo>
                      <a:pt x="767676" y="133307"/>
                      <a:pt x="759156" y="153877"/>
                      <a:pt x="743989" y="169044"/>
                    </a:cubicBezTo>
                    <a:cubicBezTo>
                      <a:pt x="728822" y="184212"/>
                      <a:pt x="708251" y="192732"/>
                      <a:pt x="686801" y="192732"/>
                    </a:cubicBezTo>
                    <a:lnTo>
                      <a:pt x="80875" y="192732"/>
                    </a:lnTo>
                    <a:cubicBezTo>
                      <a:pt x="59426" y="192732"/>
                      <a:pt x="38855" y="184212"/>
                      <a:pt x="23688" y="169044"/>
                    </a:cubicBezTo>
                    <a:cubicBezTo>
                      <a:pt x="8521" y="153877"/>
                      <a:pt x="0" y="133307"/>
                      <a:pt x="0" y="111857"/>
                    </a:cubicBezTo>
                    <a:lnTo>
                      <a:pt x="0" y="80875"/>
                    </a:lnTo>
                    <a:cubicBezTo>
                      <a:pt x="0" y="59426"/>
                      <a:pt x="8521" y="38855"/>
                      <a:pt x="23688" y="23688"/>
                    </a:cubicBezTo>
                    <a:cubicBezTo>
                      <a:pt x="38855" y="8521"/>
                      <a:pt x="59426" y="0"/>
                      <a:pt x="80875" y="0"/>
                    </a:cubicBezTo>
                    <a:close/>
                  </a:path>
                </a:pathLst>
              </a:custGeom>
              <a:solidFill>
                <a:srgbClr val="78AF95">
                  <a:alpha val="88627"/>
                </a:srgbClr>
              </a:solidFill>
              <a:ln w="38100" cap="rnd">
                <a:solidFill>
                  <a:srgbClr val="000000">
                    <a:alpha val="88627"/>
                  </a:srgbClr>
                </a:solidFill>
                <a:prstDash val="solid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66675"/>
                <a:ext cx="767676" cy="2594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76237" y="105788"/>
              <a:ext cx="3076598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1341C">
                      <a:alpha val="88627"/>
                    </a:srgbClr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Introduction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256025" y="72561"/>
            <a:ext cx="3141887" cy="784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8"/>
              </a:lnSpc>
              <a:spcBef>
                <a:spcPct val="0"/>
              </a:spcBef>
            </a:pPr>
            <a:r>
              <a:rPr lang="en-US" sz="4084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Background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71159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Conclusion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6431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Methods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41788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Results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30402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Discussion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552456" y="1461359"/>
            <a:ext cx="5183088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Previous Literature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6460" y="3383961"/>
            <a:ext cx="16230600" cy="3518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2"/>
              </a:lnSpc>
            </a:pPr>
            <a:r>
              <a:rPr lang="en-US" sz="4514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Three competing frameworks</a:t>
            </a:r>
          </a:p>
          <a:p>
            <a:pPr algn="l" marL="974716" indent="-487358" lvl="1">
              <a:lnSpc>
                <a:spcPts val="5462"/>
              </a:lnSpc>
              <a:buFont typeface="Arial"/>
              <a:buChar char="•"/>
            </a:pPr>
            <a:r>
              <a:rPr lang="en-US" sz="4514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Parallel processing model (2000)</a:t>
            </a:r>
          </a:p>
          <a:p>
            <a:pPr algn="l" marL="974716" indent="-487358" lvl="1">
              <a:lnSpc>
                <a:spcPts val="5462"/>
              </a:lnSpc>
              <a:buFont typeface="Arial"/>
              <a:buChar char="•"/>
            </a:pPr>
            <a:r>
              <a:rPr lang="en-US" sz="4514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Distributed processing model (2001)</a:t>
            </a:r>
          </a:p>
          <a:p>
            <a:pPr algn="l" marL="974716" indent="-487358" lvl="1">
              <a:lnSpc>
                <a:spcPts val="5462"/>
              </a:lnSpc>
              <a:buFont typeface="Arial"/>
              <a:buChar char="•"/>
            </a:pPr>
            <a:r>
              <a:rPr lang="en-US" sz="4514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Hierarchical processing model (2014)</a:t>
            </a:r>
          </a:p>
          <a:p>
            <a:pPr algn="l">
              <a:lnSpc>
                <a:spcPts val="5462"/>
              </a:lnSpc>
            </a:pPr>
            <a:r>
              <a:rPr lang="en-US" sz="4514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Single Neuron Studies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0" y="0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71804" y="0"/>
            <a:ext cx="3910329" cy="930254"/>
            <a:chOff x="0" y="0"/>
            <a:chExt cx="767676" cy="1826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7676" cy="182628"/>
            </a:xfrm>
            <a:custGeom>
              <a:avLst/>
              <a:gdLst/>
              <a:ahLst/>
              <a:cxnLst/>
              <a:rect r="r" b="b" t="t" l="l"/>
              <a:pathLst>
                <a:path h="182628" w="767676">
                  <a:moveTo>
                    <a:pt x="59396" y="0"/>
                  </a:moveTo>
                  <a:lnTo>
                    <a:pt x="708281" y="0"/>
                  </a:lnTo>
                  <a:cubicBezTo>
                    <a:pt x="724033" y="0"/>
                    <a:pt x="739141" y="6258"/>
                    <a:pt x="750280" y="17397"/>
                  </a:cubicBezTo>
                  <a:cubicBezTo>
                    <a:pt x="761419" y="28536"/>
                    <a:pt x="767676" y="43643"/>
                    <a:pt x="767676" y="59396"/>
                  </a:cubicBezTo>
                  <a:lnTo>
                    <a:pt x="767676" y="123232"/>
                  </a:lnTo>
                  <a:cubicBezTo>
                    <a:pt x="767676" y="138985"/>
                    <a:pt x="761419" y="154092"/>
                    <a:pt x="750280" y="165231"/>
                  </a:cubicBezTo>
                  <a:cubicBezTo>
                    <a:pt x="739141" y="176370"/>
                    <a:pt x="724033" y="182628"/>
                    <a:pt x="708281" y="182628"/>
                  </a:cubicBezTo>
                  <a:lnTo>
                    <a:pt x="59396" y="182628"/>
                  </a:lnTo>
                  <a:cubicBezTo>
                    <a:pt x="43643" y="182628"/>
                    <a:pt x="28536" y="176370"/>
                    <a:pt x="17397" y="165231"/>
                  </a:cubicBezTo>
                  <a:cubicBezTo>
                    <a:pt x="6258" y="154092"/>
                    <a:pt x="0" y="138985"/>
                    <a:pt x="0" y="123232"/>
                  </a:cubicBezTo>
                  <a:lnTo>
                    <a:pt x="0" y="59396"/>
                  </a:lnTo>
                  <a:cubicBezTo>
                    <a:pt x="0" y="43643"/>
                    <a:pt x="6258" y="28536"/>
                    <a:pt x="17397" y="17397"/>
                  </a:cubicBezTo>
                  <a:cubicBezTo>
                    <a:pt x="28536" y="6258"/>
                    <a:pt x="43643" y="0"/>
                    <a:pt x="59396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767676" cy="249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82134" y="0"/>
            <a:ext cx="2871804" cy="709475"/>
            <a:chOff x="0" y="0"/>
            <a:chExt cx="767676" cy="1896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63322" y="0"/>
            <a:ext cx="2871804" cy="709475"/>
            <a:chOff x="0" y="0"/>
            <a:chExt cx="767676" cy="1896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3097156" y="-47344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544511" y="0"/>
            <a:ext cx="2871804" cy="709475"/>
            <a:chOff x="0" y="0"/>
            <a:chExt cx="767676" cy="1896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416196" y="0"/>
            <a:ext cx="2871804" cy="709475"/>
            <a:chOff x="0" y="0"/>
            <a:chExt cx="767676" cy="1896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0" y="0"/>
            <a:ext cx="2871804" cy="720993"/>
            <a:chOff x="0" y="0"/>
            <a:chExt cx="3829072" cy="961324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3829072" cy="961324"/>
              <a:chOff x="0" y="0"/>
              <a:chExt cx="767676" cy="19273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67676" cy="192732"/>
              </a:xfrm>
              <a:custGeom>
                <a:avLst/>
                <a:gdLst/>
                <a:ahLst/>
                <a:cxnLst/>
                <a:rect r="r" b="b" t="t" l="l"/>
                <a:pathLst>
                  <a:path h="192732" w="767676">
                    <a:moveTo>
                      <a:pt x="80875" y="0"/>
                    </a:moveTo>
                    <a:lnTo>
                      <a:pt x="686801" y="0"/>
                    </a:lnTo>
                    <a:cubicBezTo>
                      <a:pt x="708251" y="0"/>
                      <a:pt x="728822" y="8521"/>
                      <a:pt x="743989" y="23688"/>
                    </a:cubicBezTo>
                    <a:cubicBezTo>
                      <a:pt x="759156" y="38855"/>
                      <a:pt x="767676" y="59426"/>
                      <a:pt x="767676" y="80875"/>
                    </a:cubicBezTo>
                    <a:lnTo>
                      <a:pt x="767676" y="111857"/>
                    </a:lnTo>
                    <a:cubicBezTo>
                      <a:pt x="767676" y="133307"/>
                      <a:pt x="759156" y="153877"/>
                      <a:pt x="743989" y="169044"/>
                    </a:cubicBezTo>
                    <a:cubicBezTo>
                      <a:pt x="728822" y="184212"/>
                      <a:pt x="708251" y="192732"/>
                      <a:pt x="686801" y="192732"/>
                    </a:cubicBezTo>
                    <a:lnTo>
                      <a:pt x="80875" y="192732"/>
                    </a:lnTo>
                    <a:cubicBezTo>
                      <a:pt x="59426" y="192732"/>
                      <a:pt x="38855" y="184212"/>
                      <a:pt x="23688" y="169044"/>
                    </a:cubicBezTo>
                    <a:cubicBezTo>
                      <a:pt x="8521" y="153877"/>
                      <a:pt x="0" y="133307"/>
                      <a:pt x="0" y="111857"/>
                    </a:cubicBezTo>
                    <a:lnTo>
                      <a:pt x="0" y="80875"/>
                    </a:lnTo>
                    <a:cubicBezTo>
                      <a:pt x="0" y="59426"/>
                      <a:pt x="8521" y="38855"/>
                      <a:pt x="23688" y="23688"/>
                    </a:cubicBezTo>
                    <a:cubicBezTo>
                      <a:pt x="38855" y="8521"/>
                      <a:pt x="59426" y="0"/>
                      <a:pt x="80875" y="0"/>
                    </a:cubicBezTo>
                    <a:close/>
                  </a:path>
                </a:pathLst>
              </a:custGeom>
              <a:solidFill>
                <a:srgbClr val="78AF95">
                  <a:alpha val="88627"/>
                </a:srgbClr>
              </a:solidFill>
              <a:ln w="38100" cap="rnd">
                <a:solidFill>
                  <a:srgbClr val="000000">
                    <a:alpha val="88627"/>
                  </a:srgbClr>
                </a:solidFill>
                <a:prstDash val="solid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66675"/>
                <a:ext cx="767676" cy="2594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76237" y="105788"/>
              <a:ext cx="3076598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1341C">
                      <a:alpha val="88627"/>
                    </a:srgbClr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Introduction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256025" y="72561"/>
            <a:ext cx="3141887" cy="784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8"/>
              </a:lnSpc>
              <a:spcBef>
                <a:spcPct val="0"/>
              </a:spcBef>
            </a:pPr>
            <a:r>
              <a:rPr lang="en-US" sz="4084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Background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71159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Conclusion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6431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Methods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41788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Results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30402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Discussion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612508" y="1461359"/>
            <a:ext cx="5062984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Gap in Knowledge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6460" y="3588842"/>
            <a:ext cx="16230600" cy="77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2"/>
              </a:lnSpc>
            </a:pPr>
            <a:r>
              <a:rPr lang="en-US" sz="4514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AudP is well characterized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0" y="0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71804" y="0"/>
            <a:ext cx="3910329" cy="930254"/>
            <a:chOff x="0" y="0"/>
            <a:chExt cx="767676" cy="1826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7676" cy="182628"/>
            </a:xfrm>
            <a:custGeom>
              <a:avLst/>
              <a:gdLst/>
              <a:ahLst/>
              <a:cxnLst/>
              <a:rect r="r" b="b" t="t" l="l"/>
              <a:pathLst>
                <a:path h="182628" w="767676">
                  <a:moveTo>
                    <a:pt x="59396" y="0"/>
                  </a:moveTo>
                  <a:lnTo>
                    <a:pt x="708281" y="0"/>
                  </a:lnTo>
                  <a:cubicBezTo>
                    <a:pt x="724033" y="0"/>
                    <a:pt x="739141" y="6258"/>
                    <a:pt x="750280" y="17397"/>
                  </a:cubicBezTo>
                  <a:cubicBezTo>
                    <a:pt x="761419" y="28536"/>
                    <a:pt x="767676" y="43643"/>
                    <a:pt x="767676" y="59396"/>
                  </a:cubicBezTo>
                  <a:lnTo>
                    <a:pt x="767676" y="123232"/>
                  </a:lnTo>
                  <a:cubicBezTo>
                    <a:pt x="767676" y="138985"/>
                    <a:pt x="761419" y="154092"/>
                    <a:pt x="750280" y="165231"/>
                  </a:cubicBezTo>
                  <a:cubicBezTo>
                    <a:pt x="739141" y="176370"/>
                    <a:pt x="724033" y="182628"/>
                    <a:pt x="708281" y="182628"/>
                  </a:cubicBezTo>
                  <a:lnTo>
                    <a:pt x="59396" y="182628"/>
                  </a:lnTo>
                  <a:cubicBezTo>
                    <a:pt x="43643" y="182628"/>
                    <a:pt x="28536" y="176370"/>
                    <a:pt x="17397" y="165231"/>
                  </a:cubicBezTo>
                  <a:cubicBezTo>
                    <a:pt x="6258" y="154092"/>
                    <a:pt x="0" y="138985"/>
                    <a:pt x="0" y="123232"/>
                  </a:cubicBezTo>
                  <a:lnTo>
                    <a:pt x="0" y="59396"/>
                  </a:lnTo>
                  <a:cubicBezTo>
                    <a:pt x="0" y="43643"/>
                    <a:pt x="6258" y="28536"/>
                    <a:pt x="17397" y="17397"/>
                  </a:cubicBezTo>
                  <a:cubicBezTo>
                    <a:pt x="28536" y="6258"/>
                    <a:pt x="43643" y="0"/>
                    <a:pt x="59396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767676" cy="249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82134" y="0"/>
            <a:ext cx="2871804" cy="709475"/>
            <a:chOff x="0" y="0"/>
            <a:chExt cx="767676" cy="1896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63322" y="0"/>
            <a:ext cx="2871804" cy="709475"/>
            <a:chOff x="0" y="0"/>
            <a:chExt cx="767676" cy="1896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3097156" y="-47344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544511" y="0"/>
            <a:ext cx="2871804" cy="709475"/>
            <a:chOff x="0" y="0"/>
            <a:chExt cx="767676" cy="1896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416196" y="0"/>
            <a:ext cx="2871804" cy="709475"/>
            <a:chOff x="0" y="0"/>
            <a:chExt cx="767676" cy="1896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0" y="0"/>
            <a:ext cx="2871804" cy="720993"/>
            <a:chOff x="0" y="0"/>
            <a:chExt cx="3829072" cy="961324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3829072" cy="961324"/>
              <a:chOff x="0" y="0"/>
              <a:chExt cx="767676" cy="19273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67676" cy="192732"/>
              </a:xfrm>
              <a:custGeom>
                <a:avLst/>
                <a:gdLst/>
                <a:ahLst/>
                <a:cxnLst/>
                <a:rect r="r" b="b" t="t" l="l"/>
                <a:pathLst>
                  <a:path h="192732" w="767676">
                    <a:moveTo>
                      <a:pt x="80875" y="0"/>
                    </a:moveTo>
                    <a:lnTo>
                      <a:pt x="686801" y="0"/>
                    </a:lnTo>
                    <a:cubicBezTo>
                      <a:pt x="708251" y="0"/>
                      <a:pt x="728822" y="8521"/>
                      <a:pt x="743989" y="23688"/>
                    </a:cubicBezTo>
                    <a:cubicBezTo>
                      <a:pt x="759156" y="38855"/>
                      <a:pt x="767676" y="59426"/>
                      <a:pt x="767676" y="80875"/>
                    </a:cubicBezTo>
                    <a:lnTo>
                      <a:pt x="767676" y="111857"/>
                    </a:lnTo>
                    <a:cubicBezTo>
                      <a:pt x="767676" y="133307"/>
                      <a:pt x="759156" y="153877"/>
                      <a:pt x="743989" y="169044"/>
                    </a:cubicBezTo>
                    <a:cubicBezTo>
                      <a:pt x="728822" y="184212"/>
                      <a:pt x="708251" y="192732"/>
                      <a:pt x="686801" y="192732"/>
                    </a:cubicBezTo>
                    <a:lnTo>
                      <a:pt x="80875" y="192732"/>
                    </a:lnTo>
                    <a:cubicBezTo>
                      <a:pt x="59426" y="192732"/>
                      <a:pt x="38855" y="184212"/>
                      <a:pt x="23688" y="169044"/>
                    </a:cubicBezTo>
                    <a:cubicBezTo>
                      <a:pt x="8521" y="153877"/>
                      <a:pt x="0" y="133307"/>
                      <a:pt x="0" y="111857"/>
                    </a:cubicBezTo>
                    <a:lnTo>
                      <a:pt x="0" y="80875"/>
                    </a:lnTo>
                    <a:cubicBezTo>
                      <a:pt x="0" y="59426"/>
                      <a:pt x="8521" y="38855"/>
                      <a:pt x="23688" y="23688"/>
                    </a:cubicBezTo>
                    <a:cubicBezTo>
                      <a:pt x="38855" y="8521"/>
                      <a:pt x="59426" y="0"/>
                      <a:pt x="80875" y="0"/>
                    </a:cubicBezTo>
                    <a:close/>
                  </a:path>
                </a:pathLst>
              </a:custGeom>
              <a:solidFill>
                <a:srgbClr val="78AF95">
                  <a:alpha val="88627"/>
                </a:srgbClr>
              </a:solidFill>
              <a:ln w="38100" cap="rnd">
                <a:solidFill>
                  <a:srgbClr val="000000">
                    <a:alpha val="88627"/>
                  </a:srgbClr>
                </a:solidFill>
                <a:prstDash val="solid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66675"/>
                <a:ext cx="767676" cy="2594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76237" y="105788"/>
              <a:ext cx="3076598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1341C">
                      <a:alpha val="88627"/>
                    </a:srgbClr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Introduction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256025" y="72561"/>
            <a:ext cx="3141887" cy="784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8"/>
              </a:lnSpc>
              <a:spcBef>
                <a:spcPct val="0"/>
              </a:spcBef>
            </a:pPr>
            <a:r>
              <a:rPr lang="en-US" sz="4084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Background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71159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Conclusion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6431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Methods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41788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Results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30402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Discussion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99771" y="1461359"/>
            <a:ext cx="5288459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Research Questions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24828" y="4516382"/>
            <a:ext cx="15238344" cy="194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9"/>
              </a:lnSpc>
            </a:pPr>
            <a:r>
              <a:rPr lang="en-US" sz="6000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How do the population responses of neurons differ across AC subregions?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0" y="0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71804" y="0"/>
            <a:ext cx="3910329" cy="930254"/>
            <a:chOff x="0" y="0"/>
            <a:chExt cx="767676" cy="1826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7676" cy="182628"/>
            </a:xfrm>
            <a:custGeom>
              <a:avLst/>
              <a:gdLst/>
              <a:ahLst/>
              <a:cxnLst/>
              <a:rect r="r" b="b" t="t" l="l"/>
              <a:pathLst>
                <a:path h="182628" w="767676">
                  <a:moveTo>
                    <a:pt x="59396" y="0"/>
                  </a:moveTo>
                  <a:lnTo>
                    <a:pt x="708281" y="0"/>
                  </a:lnTo>
                  <a:cubicBezTo>
                    <a:pt x="724033" y="0"/>
                    <a:pt x="739141" y="6258"/>
                    <a:pt x="750280" y="17397"/>
                  </a:cubicBezTo>
                  <a:cubicBezTo>
                    <a:pt x="761419" y="28536"/>
                    <a:pt x="767676" y="43643"/>
                    <a:pt x="767676" y="59396"/>
                  </a:cubicBezTo>
                  <a:lnTo>
                    <a:pt x="767676" y="123232"/>
                  </a:lnTo>
                  <a:cubicBezTo>
                    <a:pt x="767676" y="138985"/>
                    <a:pt x="761419" y="154092"/>
                    <a:pt x="750280" y="165231"/>
                  </a:cubicBezTo>
                  <a:cubicBezTo>
                    <a:pt x="739141" y="176370"/>
                    <a:pt x="724033" y="182628"/>
                    <a:pt x="708281" y="182628"/>
                  </a:cubicBezTo>
                  <a:lnTo>
                    <a:pt x="59396" y="182628"/>
                  </a:lnTo>
                  <a:cubicBezTo>
                    <a:pt x="43643" y="182628"/>
                    <a:pt x="28536" y="176370"/>
                    <a:pt x="17397" y="165231"/>
                  </a:cubicBezTo>
                  <a:cubicBezTo>
                    <a:pt x="6258" y="154092"/>
                    <a:pt x="0" y="138985"/>
                    <a:pt x="0" y="123232"/>
                  </a:cubicBezTo>
                  <a:lnTo>
                    <a:pt x="0" y="59396"/>
                  </a:lnTo>
                  <a:cubicBezTo>
                    <a:pt x="0" y="43643"/>
                    <a:pt x="6258" y="28536"/>
                    <a:pt x="17397" y="17397"/>
                  </a:cubicBezTo>
                  <a:cubicBezTo>
                    <a:pt x="28536" y="6258"/>
                    <a:pt x="43643" y="0"/>
                    <a:pt x="59396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767676" cy="249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82134" y="0"/>
            <a:ext cx="2871804" cy="709475"/>
            <a:chOff x="0" y="0"/>
            <a:chExt cx="767676" cy="1896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63322" y="0"/>
            <a:ext cx="2871804" cy="709475"/>
            <a:chOff x="0" y="0"/>
            <a:chExt cx="767676" cy="1896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3097156" y="-47344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544511" y="0"/>
            <a:ext cx="2871804" cy="709475"/>
            <a:chOff x="0" y="0"/>
            <a:chExt cx="767676" cy="1896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416196" y="0"/>
            <a:ext cx="2871804" cy="709475"/>
            <a:chOff x="0" y="0"/>
            <a:chExt cx="767676" cy="1896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0" y="0"/>
            <a:ext cx="2871804" cy="720993"/>
            <a:chOff x="0" y="0"/>
            <a:chExt cx="3829072" cy="961324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3829072" cy="961324"/>
              <a:chOff x="0" y="0"/>
              <a:chExt cx="767676" cy="19273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67676" cy="192732"/>
              </a:xfrm>
              <a:custGeom>
                <a:avLst/>
                <a:gdLst/>
                <a:ahLst/>
                <a:cxnLst/>
                <a:rect r="r" b="b" t="t" l="l"/>
                <a:pathLst>
                  <a:path h="192732" w="767676">
                    <a:moveTo>
                      <a:pt x="80875" y="0"/>
                    </a:moveTo>
                    <a:lnTo>
                      <a:pt x="686801" y="0"/>
                    </a:lnTo>
                    <a:cubicBezTo>
                      <a:pt x="708251" y="0"/>
                      <a:pt x="728822" y="8521"/>
                      <a:pt x="743989" y="23688"/>
                    </a:cubicBezTo>
                    <a:cubicBezTo>
                      <a:pt x="759156" y="38855"/>
                      <a:pt x="767676" y="59426"/>
                      <a:pt x="767676" y="80875"/>
                    </a:cubicBezTo>
                    <a:lnTo>
                      <a:pt x="767676" y="111857"/>
                    </a:lnTo>
                    <a:cubicBezTo>
                      <a:pt x="767676" y="133307"/>
                      <a:pt x="759156" y="153877"/>
                      <a:pt x="743989" y="169044"/>
                    </a:cubicBezTo>
                    <a:cubicBezTo>
                      <a:pt x="728822" y="184212"/>
                      <a:pt x="708251" y="192732"/>
                      <a:pt x="686801" y="192732"/>
                    </a:cubicBezTo>
                    <a:lnTo>
                      <a:pt x="80875" y="192732"/>
                    </a:lnTo>
                    <a:cubicBezTo>
                      <a:pt x="59426" y="192732"/>
                      <a:pt x="38855" y="184212"/>
                      <a:pt x="23688" y="169044"/>
                    </a:cubicBezTo>
                    <a:cubicBezTo>
                      <a:pt x="8521" y="153877"/>
                      <a:pt x="0" y="133307"/>
                      <a:pt x="0" y="111857"/>
                    </a:cubicBezTo>
                    <a:lnTo>
                      <a:pt x="0" y="80875"/>
                    </a:lnTo>
                    <a:cubicBezTo>
                      <a:pt x="0" y="59426"/>
                      <a:pt x="8521" y="38855"/>
                      <a:pt x="23688" y="23688"/>
                    </a:cubicBezTo>
                    <a:cubicBezTo>
                      <a:pt x="38855" y="8521"/>
                      <a:pt x="59426" y="0"/>
                      <a:pt x="80875" y="0"/>
                    </a:cubicBezTo>
                    <a:close/>
                  </a:path>
                </a:pathLst>
              </a:custGeom>
              <a:solidFill>
                <a:srgbClr val="78AF95">
                  <a:alpha val="88627"/>
                </a:srgbClr>
              </a:solidFill>
              <a:ln w="38100" cap="rnd">
                <a:solidFill>
                  <a:srgbClr val="000000">
                    <a:alpha val="88627"/>
                  </a:srgbClr>
                </a:solidFill>
                <a:prstDash val="solid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66675"/>
                <a:ext cx="767676" cy="2594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76237" y="105788"/>
              <a:ext cx="3076598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1341C">
                      <a:alpha val="88627"/>
                    </a:srgbClr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Introduction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441435" y="3643795"/>
            <a:ext cx="8500352" cy="2528855"/>
          </a:xfrm>
          <a:custGeom>
            <a:avLst/>
            <a:gdLst/>
            <a:ahLst/>
            <a:cxnLst/>
            <a:rect r="r" b="b" t="t" l="l"/>
            <a:pathLst>
              <a:path h="2528855" w="8500352">
                <a:moveTo>
                  <a:pt x="0" y="0"/>
                </a:moveTo>
                <a:lnTo>
                  <a:pt x="8500353" y="0"/>
                </a:lnTo>
                <a:lnTo>
                  <a:pt x="8500353" y="2528855"/>
                </a:lnTo>
                <a:lnTo>
                  <a:pt x="0" y="25288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119392" y="2735529"/>
            <a:ext cx="6952457" cy="6874242"/>
          </a:xfrm>
          <a:custGeom>
            <a:avLst/>
            <a:gdLst/>
            <a:ahLst/>
            <a:cxnLst/>
            <a:rect r="r" b="b" t="t" l="l"/>
            <a:pathLst>
              <a:path h="6874242" w="6952457">
                <a:moveTo>
                  <a:pt x="0" y="0"/>
                </a:moveTo>
                <a:lnTo>
                  <a:pt x="6952457" y="0"/>
                </a:lnTo>
                <a:lnTo>
                  <a:pt x="6952457" y="6874242"/>
                </a:lnTo>
                <a:lnTo>
                  <a:pt x="0" y="68742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3256025" y="72561"/>
            <a:ext cx="3141887" cy="784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8"/>
              </a:lnSpc>
              <a:spcBef>
                <a:spcPct val="0"/>
              </a:spcBef>
            </a:pPr>
            <a:r>
              <a:rPr lang="en-US" sz="4084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Background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71159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Conclusion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06431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Methods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41788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Results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30402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Discussion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787973" y="1461359"/>
            <a:ext cx="10712053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Neural Activity as a Response to Sound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0" y="0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71804" y="0"/>
            <a:ext cx="3910329" cy="930254"/>
            <a:chOff x="0" y="0"/>
            <a:chExt cx="767676" cy="1826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7676" cy="182628"/>
            </a:xfrm>
            <a:custGeom>
              <a:avLst/>
              <a:gdLst/>
              <a:ahLst/>
              <a:cxnLst/>
              <a:rect r="r" b="b" t="t" l="l"/>
              <a:pathLst>
                <a:path h="182628" w="767676">
                  <a:moveTo>
                    <a:pt x="59396" y="0"/>
                  </a:moveTo>
                  <a:lnTo>
                    <a:pt x="708281" y="0"/>
                  </a:lnTo>
                  <a:cubicBezTo>
                    <a:pt x="724033" y="0"/>
                    <a:pt x="739141" y="6258"/>
                    <a:pt x="750280" y="17397"/>
                  </a:cubicBezTo>
                  <a:cubicBezTo>
                    <a:pt x="761419" y="28536"/>
                    <a:pt x="767676" y="43643"/>
                    <a:pt x="767676" y="59396"/>
                  </a:cubicBezTo>
                  <a:lnTo>
                    <a:pt x="767676" y="123232"/>
                  </a:lnTo>
                  <a:cubicBezTo>
                    <a:pt x="767676" y="138985"/>
                    <a:pt x="761419" y="154092"/>
                    <a:pt x="750280" y="165231"/>
                  </a:cubicBezTo>
                  <a:cubicBezTo>
                    <a:pt x="739141" y="176370"/>
                    <a:pt x="724033" y="182628"/>
                    <a:pt x="708281" y="182628"/>
                  </a:cubicBezTo>
                  <a:lnTo>
                    <a:pt x="59396" y="182628"/>
                  </a:lnTo>
                  <a:cubicBezTo>
                    <a:pt x="43643" y="182628"/>
                    <a:pt x="28536" y="176370"/>
                    <a:pt x="17397" y="165231"/>
                  </a:cubicBezTo>
                  <a:cubicBezTo>
                    <a:pt x="6258" y="154092"/>
                    <a:pt x="0" y="138985"/>
                    <a:pt x="0" y="123232"/>
                  </a:cubicBezTo>
                  <a:lnTo>
                    <a:pt x="0" y="59396"/>
                  </a:lnTo>
                  <a:cubicBezTo>
                    <a:pt x="0" y="43643"/>
                    <a:pt x="6258" y="28536"/>
                    <a:pt x="17397" y="17397"/>
                  </a:cubicBezTo>
                  <a:cubicBezTo>
                    <a:pt x="28536" y="6258"/>
                    <a:pt x="43643" y="0"/>
                    <a:pt x="59396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767676" cy="249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82134" y="0"/>
            <a:ext cx="2871804" cy="709475"/>
            <a:chOff x="0" y="0"/>
            <a:chExt cx="767676" cy="1896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63322" y="0"/>
            <a:ext cx="2871804" cy="709475"/>
            <a:chOff x="0" y="0"/>
            <a:chExt cx="767676" cy="1896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3097156" y="-47344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544511" y="0"/>
            <a:ext cx="2871804" cy="709475"/>
            <a:chOff x="0" y="0"/>
            <a:chExt cx="767676" cy="1896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416196" y="0"/>
            <a:ext cx="2871804" cy="709475"/>
            <a:chOff x="0" y="0"/>
            <a:chExt cx="767676" cy="1896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0" y="0"/>
            <a:ext cx="2871804" cy="720993"/>
            <a:chOff x="0" y="0"/>
            <a:chExt cx="3829072" cy="961324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3829072" cy="961324"/>
              <a:chOff x="0" y="0"/>
              <a:chExt cx="767676" cy="19273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67676" cy="192732"/>
              </a:xfrm>
              <a:custGeom>
                <a:avLst/>
                <a:gdLst/>
                <a:ahLst/>
                <a:cxnLst/>
                <a:rect r="r" b="b" t="t" l="l"/>
                <a:pathLst>
                  <a:path h="192732" w="767676">
                    <a:moveTo>
                      <a:pt x="80875" y="0"/>
                    </a:moveTo>
                    <a:lnTo>
                      <a:pt x="686801" y="0"/>
                    </a:lnTo>
                    <a:cubicBezTo>
                      <a:pt x="708251" y="0"/>
                      <a:pt x="728822" y="8521"/>
                      <a:pt x="743989" y="23688"/>
                    </a:cubicBezTo>
                    <a:cubicBezTo>
                      <a:pt x="759156" y="38855"/>
                      <a:pt x="767676" y="59426"/>
                      <a:pt x="767676" y="80875"/>
                    </a:cubicBezTo>
                    <a:lnTo>
                      <a:pt x="767676" y="111857"/>
                    </a:lnTo>
                    <a:cubicBezTo>
                      <a:pt x="767676" y="133307"/>
                      <a:pt x="759156" y="153877"/>
                      <a:pt x="743989" y="169044"/>
                    </a:cubicBezTo>
                    <a:cubicBezTo>
                      <a:pt x="728822" y="184212"/>
                      <a:pt x="708251" y="192732"/>
                      <a:pt x="686801" y="192732"/>
                    </a:cubicBezTo>
                    <a:lnTo>
                      <a:pt x="80875" y="192732"/>
                    </a:lnTo>
                    <a:cubicBezTo>
                      <a:pt x="59426" y="192732"/>
                      <a:pt x="38855" y="184212"/>
                      <a:pt x="23688" y="169044"/>
                    </a:cubicBezTo>
                    <a:cubicBezTo>
                      <a:pt x="8521" y="153877"/>
                      <a:pt x="0" y="133307"/>
                      <a:pt x="0" y="111857"/>
                    </a:cubicBezTo>
                    <a:lnTo>
                      <a:pt x="0" y="80875"/>
                    </a:lnTo>
                    <a:cubicBezTo>
                      <a:pt x="0" y="59426"/>
                      <a:pt x="8521" y="38855"/>
                      <a:pt x="23688" y="23688"/>
                    </a:cubicBezTo>
                    <a:cubicBezTo>
                      <a:pt x="38855" y="8521"/>
                      <a:pt x="59426" y="0"/>
                      <a:pt x="80875" y="0"/>
                    </a:cubicBezTo>
                    <a:close/>
                  </a:path>
                </a:pathLst>
              </a:custGeom>
              <a:solidFill>
                <a:srgbClr val="78AF95">
                  <a:alpha val="88627"/>
                </a:srgbClr>
              </a:solidFill>
              <a:ln w="38100" cap="rnd">
                <a:solidFill>
                  <a:srgbClr val="000000">
                    <a:alpha val="88627"/>
                  </a:srgbClr>
                </a:solidFill>
                <a:prstDash val="solid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66675"/>
                <a:ext cx="767676" cy="2594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76237" y="105788"/>
              <a:ext cx="3076598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1341C">
                      <a:alpha val="88627"/>
                    </a:srgbClr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Introduction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256025" y="72561"/>
            <a:ext cx="3141887" cy="784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8"/>
              </a:lnSpc>
              <a:spcBef>
                <a:spcPct val="0"/>
              </a:spcBef>
            </a:pPr>
            <a:r>
              <a:rPr lang="en-US" sz="4084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Background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71159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Conclusion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6431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Methods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41788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Results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30402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Discussion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40389" y="1461359"/>
            <a:ext cx="4207222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Neuropixels 1.0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496592" y="3112305"/>
            <a:ext cx="7545272" cy="2146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2"/>
              </a:lnSpc>
            </a:pPr>
            <a:r>
              <a:rPr lang="en-US" sz="4514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Record from hundreds of neurons activty from multiple subregions simultaneously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2279720" y="3153634"/>
            <a:ext cx="731520" cy="5486400"/>
            <a:chOff x="0" y="0"/>
            <a:chExt cx="975360" cy="7315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75360" cy="7315200"/>
            </a:xfrm>
            <a:custGeom>
              <a:avLst/>
              <a:gdLst/>
              <a:ahLst/>
              <a:cxnLst/>
              <a:rect r="r" b="b" t="t" l="l"/>
              <a:pathLst>
                <a:path h="7315200" w="97536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780288" y="0"/>
                  </a:lnTo>
                  <a:cubicBezTo>
                    <a:pt x="887984" y="0"/>
                    <a:pt x="975360" y="87376"/>
                    <a:pt x="975360" y="195072"/>
                  </a:cubicBezTo>
                  <a:lnTo>
                    <a:pt x="975360" y="7120128"/>
                  </a:lnTo>
                  <a:cubicBezTo>
                    <a:pt x="975360" y="7227824"/>
                    <a:pt x="887984" y="7315200"/>
                    <a:pt x="780288" y="7315200"/>
                  </a:cubicBezTo>
                  <a:lnTo>
                    <a:pt x="195072" y="7315200"/>
                  </a:lnTo>
                  <a:cubicBezTo>
                    <a:pt x="87376" y="7315200"/>
                    <a:pt x="0" y="7227824"/>
                    <a:pt x="0" y="7120128"/>
                  </a:cubicBez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2085126" y="3236692"/>
            <a:ext cx="73152" cy="73152"/>
            <a:chOff x="0" y="0"/>
            <a:chExt cx="97536" cy="975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359446" y="3236692"/>
            <a:ext cx="73152" cy="73152"/>
            <a:chOff x="0" y="0"/>
            <a:chExt cx="97536" cy="9753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2471744" y="3592546"/>
            <a:ext cx="73152" cy="73152"/>
            <a:chOff x="0" y="0"/>
            <a:chExt cx="97536" cy="975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746064" y="3592546"/>
            <a:ext cx="73152" cy="73152"/>
            <a:chOff x="0" y="0"/>
            <a:chExt cx="97536" cy="9753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471744" y="3793714"/>
            <a:ext cx="73152" cy="73152"/>
            <a:chOff x="0" y="0"/>
            <a:chExt cx="97536" cy="9753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2746064" y="3793714"/>
            <a:ext cx="73152" cy="73152"/>
            <a:chOff x="0" y="0"/>
            <a:chExt cx="97536" cy="975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2471744" y="3994882"/>
            <a:ext cx="73152" cy="73152"/>
            <a:chOff x="0" y="0"/>
            <a:chExt cx="97536" cy="9753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2746064" y="3994882"/>
            <a:ext cx="73152" cy="73152"/>
            <a:chOff x="0" y="0"/>
            <a:chExt cx="97536" cy="9753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2471744" y="4196050"/>
            <a:ext cx="73152" cy="73152"/>
            <a:chOff x="0" y="0"/>
            <a:chExt cx="97536" cy="9753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2746064" y="4196050"/>
            <a:ext cx="73152" cy="73152"/>
            <a:chOff x="0" y="0"/>
            <a:chExt cx="97536" cy="9753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2471744" y="4397218"/>
            <a:ext cx="73152" cy="73152"/>
            <a:chOff x="0" y="0"/>
            <a:chExt cx="97536" cy="9753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2746064" y="4397218"/>
            <a:ext cx="73152" cy="73152"/>
            <a:chOff x="0" y="0"/>
            <a:chExt cx="97536" cy="9753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2471744" y="4598386"/>
            <a:ext cx="73152" cy="73152"/>
            <a:chOff x="0" y="0"/>
            <a:chExt cx="97536" cy="975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2746064" y="4598386"/>
            <a:ext cx="73152" cy="73152"/>
            <a:chOff x="0" y="0"/>
            <a:chExt cx="97536" cy="9753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2471744" y="4799554"/>
            <a:ext cx="73152" cy="73152"/>
            <a:chOff x="0" y="0"/>
            <a:chExt cx="97536" cy="9753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2746064" y="4799554"/>
            <a:ext cx="73152" cy="73152"/>
            <a:chOff x="0" y="0"/>
            <a:chExt cx="97536" cy="9753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2471744" y="5000722"/>
            <a:ext cx="73152" cy="73152"/>
            <a:chOff x="0" y="0"/>
            <a:chExt cx="97536" cy="9753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2746064" y="5000722"/>
            <a:ext cx="73152" cy="73152"/>
            <a:chOff x="0" y="0"/>
            <a:chExt cx="97536" cy="9753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2471744" y="5201890"/>
            <a:ext cx="73152" cy="73152"/>
            <a:chOff x="0" y="0"/>
            <a:chExt cx="97536" cy="9753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2746064" y="5201890"/>
            <a:ext cx="73152" cy="73152"/>
            <a:chOff x="0" y="0"/>
            <a:chExt cx="97536" cy="9753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2471744" y="5403058"/>
            <a:ext cx="73152" cy="73152"/>
            <a:chOff x="0" y="0"/>
            <a:chExt cx="97536" cy="975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2746064" y="5403058"/>
            <a:ext cx="73152" cy="73152"/>
            <a:chOff x="0" y="0"/>
            <a:chExt cx="97536" cy="9753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2471744" y="5604226"/>
            <a:ext cx="73152" cy="73152"/>
            <a:chOff x="0" y="0"/>
            <a:chExt cx="97536" cy="9753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2746064" y="5604226"/>
            <a:ext cx="73152" cy="73152"/>
            <a:chOff x="0" y="0"/>
            <a:chExt cx="97536" cy="9753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2471744" y="5805394"/>
            <a:ext cx="73152" cy="73152"/>
            <a:chOff x="0" y="0"/>
            <a:chExt cx="97536" cy="9753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2746064" y="5805394"/>
            <a:ext cx="73152" cy="73152"/>
            <a:chOff x="0" y="0"/>
            <a:chExt cx="97536" cy="9753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2471744" y="6006562"/>
            <a:ext cx="73152" cy="73152"/>
            <a:chOff x="0" y="0"/>
            <a:chExt cx="97536" cy="9753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2746064" y="6006562"/>
            <a:ext cx="73152" cy="73152"/>
            <a:chOff x="0" y="0"/>
            <a:chExt cx="97536" cy="975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2471744" y="6207730"/>
            <a:ext cx="73152" cy="73152"/>
            <a:chOff x="0" y="0"/>
            <a:chExt cx="97536" cy="9753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2746064" y="6207730"/>
            <a:ext cx="73152" cy="73152"/>
            <a:chOff x="0" y="0"/>
            <a:chExt cx="97536" cy="9753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2471744" y="6408898"/>
            <a:ext cx="73152" cy="73152"/>
            <a:chOff x="0" y="0"/>
            <a:chExt cx="97536" cy="9753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2746064" y="6408898"/>
            <a:ext cx="73152" cy="73152"/>
            <a:chOff x="0" y="0"/>
            <a:chExt cx="97536" cy="97536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2471744" y="6610066"/>
            <a:ext cx="73152" cy="73152"/>
            <a:chOff x="0" y="0"/>
            <a:chExt cx="97536" cy="97536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2746064" y="6610066"/>
            <a:ext cx="73152" cy="73152"/>
            <a:chOff x="0" y="0"/>
            <a:chExt cx="97536" cy="97536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2471744" y="6811234"/>
            <a:ext cx="73152" cy="73152"/>
            <a:chOff x="0" y="0"/>
            <a:chExt cx="97536" cy="9753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2746064" y="6811234"/>
            <a:ext cx="73152" cy="73152"/>
            <a:chOff x="0" y="0"/>
            <a:chExt cx="97536" cy="9753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2471744" y="7012402"/>
            <a:ext cx="73152" cy="73152"/>
            <a:chOff x="0" y="0"/>
            <a:chExt cx="97536" cy="97536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2746064" y="7012402"/>
            <a:ext cx="73152" cy="73152"/>
            <a:chOff x="0" y="0"/>
            <a:chExt cx="97536" cy="9753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2471744" y="7213570"/>
            <a:ext cx="73152" cy="73152"/>
            <a:chOff x="0" y="0"/>
            <a:chExt cx="97536" cy="97536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2746064" y="7213570"/>
            <a:ext cx="73152" cy="73152"/>
            <a:chOff x="0" y="0"/>
            <a:chExt cx="97536" cy="97536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2471744" y="7414738"/>
            <a:ext cx="73152" cy="73152"/>
            <a:chOff x="0" y="0"/>
            <a:chExt cx="97536" cy="97536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2746064" y="7414738"/>
            <a:ext cx="73152" cy="73152"/>
            <a:chOff x="0" y="0"/>
            <a:chExt cx="97536" cy="9753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2471744" y="7615906"/>
            <a:ext cx="73152" cy="73152"/>
            <a:chOff x="0" y="0"/>
            <a:chExt cx="97536" cy="97536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2746064" y="7615906"/>
            <a:ext cx="73152" cy="73152"/>
            <a:chOff x="0" y="0"/>
            <a:chExt cx="97536" cy="97536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2471744" y="7817074"/>
            <a:ext cx="73152" cy="73152"/>
            <a:chOff x="0" y="0"/>
            <a:chExt cx="97536" cy="9753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2746064" y="7817074"/>
            <a:ext cx="73152" cy="73152"/>
            <a:chOff x="0" y="0"/>
            <a:chExt cx="97536" cy="97536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2471744" y="8018242"/>
            <a:ext cx="73152" cy="73152"/>
            <a:chOff x="0" y="0"/>
            <a:chExt cx="97536" cy="97536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2746064" y="8018242"/>
            <a:ext cx="73152" cy="73152"/>
            <a:chOff x="0" y="0"/>
            <a:chExt cx="97536" cy="9753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97536" cy="97536"/>
            </a:xfrm>
            <a:custGeom>
              <a:avLst/>
              <a:gdLst/>
              <a:ahLst/>
              <a:cxnLst/>
              <a:rect r="r" b="b" t="t" l="l"/>
              <a:pathLst>
                <a:path h="97536" w="97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cubicBezTo>
                    <a:pt x="75692" y="0"/>
                    <a:pt x="97536" y="21844"/>
                    <a:pt x="97536" y="48768"/>
                  </a:cubicBezTo>
                  <a:cubicBezTo>
                    <a:pt x="97536" y="75692"/>
                    <a:pt x="75692" y="97536"/>
                    <a:pt x="48768" y="97536"/>
                  </a:cubicBezTo>
                  <a:cubicBezTo>
                    <a:pt x="21844" y="97536"/>
                    <a:pt x="0" y="75692"/>
                    <a:pt x="0" y="487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29" id="129"/>
          <p:cNvSpPr txBox="true"/>
          <p:nvPr/>
        </p:nvSpPr>
        <p:spPr>
          <a:xfrm rot="0">
            <a:off x="1822520" y="8794339"/>
            <a:ext cx="1645920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18"/>
              </a:lnSpc>
            </a:pPr>
            <a:r>
              <a:rPr lang="en-US" sz="1100">
                <a:solidFill>
                  <a:srgbClr val="4A5C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 mm shank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5022920" y="3336514"/>
            <a:ext cx="365760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599" b="true">
                <a:solidFill>
                  <a:srgbClr val="2D6A4F"/>
                </a:solidFill>
                <a:latin typeface="DM Sans Bold"/>
                <a:ea typeface="DM Sans Bold"/>
                <a:cs typeface="DM Sans Bold"/>
                <a:sym typeface="DM Sans Bold"/>
              </a:rPr>
              <a:t>384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5022920" y="4176619"/>
            <a:ext cx="6400800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399">
                <a:solidFill>
                  <a:srgbClr val="4A5C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channels per probe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5022920" y="4616674"/>
            <a:ext cx="365760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599" b="true">
                <a:solidFill>
                  <a:srgbClr val="2D6A4F"/>
                </a:solidFill>
                <a:latin typeface="DM Sans Bold"/>
                <a:ea typeface="DM Sans Bold"/>
                <a:cs typeface="DM Sans Bold"/>
                <a:sym typeface="DM Sans Bold"/>
              </a:rPr>
              <a:t>~1000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5022920" y="5456779"/>
            <a:ext cx="6400800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399">
                <a:solidFill>
                  <a:srgbClr val="4A5C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neurons per session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5022920" y="5896834"/>
            <a:ext cx="365760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599" b="true">
                <a:solidFill>
                  <a:srgbClr val="2D6A4F"/>
                </a:solidFill>
                <a:latin typeface="DM Sans Bold"/>
                <a:ea typeface="DM Sans Bold"/>
                <a:cs typeface="DM Sans Bold"/>
                <a:sym typeface="DM Sans Bold"/>
              </a:rPr>
              <a:t>30 kHz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5022920" y="6736939"/>
            <a:ext cx="6400800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399">
                <a:solidFill>
                  <a:srgbClr val="4A5C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sampling rate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5022920" y="7176994"/>
            <a:ext cx="365760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5599" b="true">
                <a:solidFill>
                  <a:srgbClr val="2D6A4F"/>
                </a:solidFill>
                <a:latin typeface="DM Sans Bold"/>
                <a:ea typeface="DM Sans Bold"/>
                <a:cs typeface="DM Sans Bold"/>
                <a:sym typeface="DM Sans Bold"/>
              </a:rPr>
              <a:t>4 mice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5022920" y="8017099"/>
            <a:ext cx="6400800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1"/>
              </a:lnSpc>
            </a:pPr>
            <a:r>
              <a:rPr lang="en-US" sz="1399">
                <a:solidFill>
                  <a:srgbClr val="4A5C5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this study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0" y="0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71804" y="0"/>
            <a:ext cx="3910329" cy="930254"/>
            <a:chOff x="0" y="0"/>
            <a:chExt cx="767676" cy="1826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7676" cy="182628"/>
            </a:xfrm>
            <a:custGeom>
              <a:avLst/>
              <a:gdLst/>
              <a:ahLst/>
              <a:cxnLst/>
              <a:rect r="r" b="b" t="t" l="l"/>
              <a:pathLst>
                <a:path h="182628" w="767676">
                  <a:moveTo>
                    <a:pt x="59396" y="0"/>
                  </a:moveTo>
                  <a:lnTo>
                    <a:pt x="708281" y="0"/>
                  </a:lnTo>
                  <a:cubicBezTo>
                    <a:pt x="724033" y="0"/>
                    <a:pt x="739141" y="6258"/>
                    <a:pt x="750280" y="17397"/>
                  </a:cubicBezTo>
                  <a:cubicBezTo>
                    <a:pt x="761419" y="28536"/>
                    <a:pt x="767676" y="43643"/>
                    <a:pt x="767676" y="59396"/>
                  </a:cubicBezTo>
                  <a:lnTo>
                    <a:pt x="767676" y="123232"/>
                  </a:lnTo>
                  <a:cubicBezTo>
                    <a:pt x="767676" y="138985"/>
                    <a:pt x="761419" y="154092"/>
                    <a:pt x="750280" y="165231"/>
                  </a:cubicBezTo>
                  <a:cubicBezTo>
                    <a:pt x="739141" y="176370"/>
                    <a:pt x="724033" y="182628"/>
                    <a:pt x="708281" y="182628"/>
                  </a:cubicBezTo>
                  <a:lnTo>
                    <a:pt x="59396" y="182628"/>
                  </a:lnTo>
                  <a:cubicBezTo>
                    <a:pt x="43643" y="182628"/>
                    <a:pt x="28536" y="176370"/>
                    <a:pt x="17397" y="165231"/>
                  </a:cubicBezTo>
                  <a:cubicBezTo>
                    <a:pt x="6258" y="154092"/>
                    <a:pt x="0" y="138985"/>
                    <a:pt x="0" y="123232"/>
                  </a:cubicBezTo>
                  <a:lnTo>
                    <a:pt x="0" y="59396"/>
                  </a:lnTo>
                  <a:cubicBezTo>
                    <a:pt x="0" y="43643"/>
                    <a:pt x="6258" y="28536"/>
                    <a:pt x="17397" y="17397"/>
                  </a:cubicBezTo>
                  <a:cubicBezTo>
                    <a:pt x="28536" y="6258"/>
                    <a:pt x="43643" y="0"/>
                    <a:pt x="59396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767676" cy="249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82134" y="0"/>
            <a:ext cx="2871804" cy="709475"/>
            <a:chOff x="0" y="0"/>
            <a:chExt cx="767676" cy="1896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63322" y="0"/>
            <a:ext cx="2871804" cy="709475"/>
            <a:chOff x="0" y="0"/>
            <a:chExt cx="767676" cy="1896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3097156" y="-47344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544511" y="0"/>
            <a:ext cx="2871804" cy="709475"/>
            <a:chOff x="0" y="0"/>
            <a:chExt cx="767676" cy="1896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416196" y="0"/>
            <a:ext cx="2871804" cy="709475"/>
            <a:chOff x="0" y="0"/>
            <a:chExt cx="767676" cy="1896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0" y="0"/>
            <a:ext cx="2871804" cy="720993"/>
            <a:chOff x="0" y="0"/>
            <a:chExt cx="3829072" cy="961324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3829072" cy="961324"/>
              <a:chOff x="0" y="0"/>
              <a:chExt cx="767676" cy="19273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67676" cy="192732"/>
              </a:xfrm>
              <a:custGeom>
                <a:avLst/>
                <a:gdLst/>
                <a:ahLst/>
                <a:cxnLst/>
                <a:rect r="r" b="b" t="t" l="l"/>
                <a:pathLst>
                  <a:path h="192732" w="767676">
                    <a:moveTo>
                      <a:pt x="80875" y="0"/>
                    </a:moveTo>
                    <a:lnTo>
                      <a:pt x="686801" y="0"/>
                    </a:lnTo>
                    <a:cubicBezTo>
                      <a:pt x="708251" y="0"/>
                      <a:pt x="728822" y="8521"/>
                      <a:pt x="743989" y="23688"/>
                    </a:cubicBezTo>
                    <a:cubicBezTo>
                      <a:pt x="759156" y="38855"/>
                      <a:pt x="767676" y="59426"/>
                      <a:pt x="767676" y="80875"/>
                    </a:cubicBezTo>
                    <a:lnTo>
                      <a:pt x="767676" y="111857"/>
                    </a:lnTo>
                    <a:cubicBezTo>
                      <a:pt x="767676" y="133307"/>
                      <a:pt x="759156" y="153877"/>
                      <a:pt x="743989" y="169044"/>
                    </a:cubicBezTo>
                    <a:cubicBezTo>
                      <a:pt x="728822" y="184212"/>
                      <a:pt x="708251" y="192732"/>
                      <a:pt x="686801" y="192732"/>
                    </a:cubicBezTo>
                    <a:lnTo>
                      <a:pt x="80875" y="192732"/>
                    </a:lnTo>
                    <a:cubicBezTo>
                      <a:pt x="59426" y="192732"/>
                      <a:pt x="38855" y="184212"/>
                      <a:pt x="23688" y="169044"/>
                    </a:cubicBezTo>
                    <a:cubicBezTo>
                      <a:pt x="8521" y="153877"/>
                      <a:pt x="0" y="133307"/>
                      <a:pt x="0" y="111857"/>
                    </a:cubicBezTo>
                    <a:lnTo>
                      <a:pt x="0" y="80875"/>
                    </a:lnTo>
                    <a:cubicBezTo>
                      <a:pt x="0" y="59426"/>
                      <a:pt x="8521" y="38855"/>
                      <a:pt x="23688" y="23688"/>
                    </a:cubicBezTo>
                    <a:cubicBezTo>
                      <a:pt x="38855" y="8521"/>
                      <a:pt x="59426" y="0"/>
                      <a:pt x="80875" y="0"/>
                    </a:cubicBezTo>
                    <a:close/>
                  </a:path>
                </a:pathLst>
              </a:custGeom>
              <a:solidFill>
                <a:srgbClr val="78AF95">
                  <a:alpha val="88627"/>
                </a:srgbClr>
              </a:solidFill>
              <a:ln w="38100" cap="rnd">
                <a:solidFill>
                  <a:srgbClr val="000000">
                    <a:alpha val="88627"/>
                  </a:srgbClr>
                </a:solidFill>
                <a:prstDash val="solid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66675"/>
                <a:ext cx="767676" cy="2594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76237" y="105788"/>
              <a:ext cx="3076598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1341C">
                      <a:alpha val="88627"/>
                    </a:srgbClr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Introduction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256025" y="72561"/>
            <a:ext cx="3141887" cy="784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8"/>
              </a:lnSpc>
              <a:spcBef>
                <a:spcPct val="0"/>
              </a:spcBef>
            </a:pPr>
            <a:r>
              <a:rPr lang="en-US" sz="4084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Background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71159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Conclusion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6431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Methods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41788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Results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30402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Discussion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316563" y="1461359"/>
            <a:ext cx="5654873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Experimental Design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71950" y="2944480"/>
            <a:ext cx="13266532" cy="2146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2"/>
              </a:lnSpc>
            </a:pPr>
            <a:r>
              <a:rPr lang="en-US" sz="4514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Head-fixed mice listing to a range of sounds</a:t>
            </a:r>
          </a:p>
          <a:p>
            <a:pPr algn="l" marL="974716" indent="-487358" lvl="1">
              <a:lnSpc>
                <a:spcPts val="5462"/>
              </a:lnSpc>
              <a:buFont typeface="Arial"/>
              <a:buChar char="•"/>
            </a:pPr>
            <a:r>
              <a:rPr lang="en-US" sz="4514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record neuronal activity</a:t>
            </a:r>
          </a:p>
          <a:p>
            <a:pPr algn="l" marL="974716" indent="-487358" lvl="1">
              <a:lnSpc>
                <a:spcPts val="5462"/>
              </a:lnSpc>
              <a:buFont typeface="Arial"/>
              <a:buChar char="•"/>
            </a:pPr>
            <a:r>
              <a:rPr lang="en-US" sz="4514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Neuropixels 1.0 probes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0537991" y="4065175"/>
            <a:ext cx="6314106" cy="5502293"/>
          </a:xfrm>
          <a:custGeom>
            <a:avLst/>
            <a:gdLst/>
            <a:ahLst/>
            <a:cxnLst/>
            <a:rect r="r" b="b" t="t" l="l"/>
            <a:pathLst>
              <a:path h="5502293" w="6314106">
                <a:moveTo>
                  <a:pt x="0" y="0"/>
                </a:moveTo>
                <a:lnTo>
                  <a:pt x="6314107" y="0"/>
                </a:lnTo>
                <a:lnTo>
                  <a:pt x="6314107" y="5502293"/>
                </a:lnTo>
                <a:lnTo>
                  <a:pt x="0" y="550229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0" y="0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71804" y="0"/>
            <a:ext cx="3910329" cy="930254"/>
            <a:chOff x="0" y="0"/>
            <a:chExt cx="767676" cy="1826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7676" cy="182628"/>
            </a:xfrm>
            <a:custGeom>
              <a:avLst/>
              <a:gdLst/>
              <a:ahLst/>
              <a:cxnLst/>
              <a:rect r="r" b="b" t="t" l="l"/>
              <a:pathLst>
                <a:path h="182628" w="767676">
                  <a:moveTo>
                    <a:pt x="59396" y="0"/>
                  </a:moveTo>
                  <a:lnTo>
                    <a:pt x="708281" y="0"/>
                  </a:lnTo>
                  <a:cubicBezTo>
                    <a:pt x="724033" y="0"/>
                    <a:pt x="739141" y="6258"/>
                    <a:pt x="750280" y="17397"/>
                  </a:cubicBezTo>
                  <a:cubicBezTo>
                    <a:pt x="761419" y="28536"/>
                    <a:pt x="767676" y="43643"/>
                    <a:pt x="767676" y="59396"/>
                  </a:cubicBezTo>
                  <a:lnTo>
                    <a:pt x="767676" y="123232"/>
                  </a:lnTo>
                  <a:cubicBezTo>
                    <a:pt x="767676" y="138985"/>
                    <a:pt x="761419" y="154092"/>
                    <a:pt x="750280" y="165231"/>
                  </a:cubicBezTo>
                  <a:cubicBezTo>
                    <a:pt x="739141" y="176370"/>
                    <a:pt x="724033" y="182628"/>
                    <a:pt x="708281" y="182628"/>
                  </a:cubicBezTo>
                  <a:lnTo>
                    <a:pt x="59396" y="182628"/>
                  </a:lnTo>
                  <a:cubicBezTo>
                    <a:pt x="43643" y="182628"/>
                    <a:pt x="28536" y="176370"/>
                    <a:pt x="17397" y="165231"/>
                  </a:cubicBezTo>
                  <a:cubicBezTo>
                    <a:pt x="6258" y="154092"/>
                    <a:pt x="0" y="138985"/>
                    <a:pt x="0" y="123232"/>
                  </a:cubicBezTo>
                  <a:lnTo>
                    <a:pt x="0" y="59396"/>
                  </a:lnTo>
                  <a:cubicBezTo>
                    <a:pt x="0" y="43643"/>
                    <a:pt x="6258" y="28536"/>
                    <a:pt x="17397" y="17397"/>
                  </a:cubicBezTo>
                  <a:cubicBezTo>
                    <a:pt x="28536" y="6258"/>
                    <a:pt x="43643" y="0"/>
                    <a:pt x="59396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767676" cy="249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82134" y="0"/>
            <a:ext cx="2871804" cy="709475"/>
            <a:chOff x="0" y="0"/>
            <a:chExt cx="767676" cy="1896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63322" y="0"/>
            <a:ext cx="2871804" cy="709475"/>
            <a:chOff x="0" y="0"/>
            <a:chExt cx="767676" cy="1896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3097156" y="-47344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544511" y="0"/>
            <a:ext cx="2871804" cy="709475"/>
            <a:chOff x="0" y="0"/>
            <a:chExt cx="767676" cy="1896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416196" y="0"/>
            <a:ext cx="2871804" cy="709475"/>
            <a:chOff x="0" y="0"/>
            <a:chExt cx="767676" cy="1896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0" y="0"/>
            <a:ext cx="2871804" cy="720993"/>
            <a:chOff x="0" y="0"/>
            <a:chExt cx="3829072" cy="961324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3829072" cy="961324"/>
              <a:chOff x="0" y="0"/>
              <a:chExt cx="767676" cy="19273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67676" cy="192732"/>
              </a:xfrm>
              <a:custGeom>
                <a:avLst/>
                <a:gdLst/>
                <a:ahLst/>
                <a:cxnLst/>
                <a:rect r="r" b="b" t="t" l="l"/>
                <a:pathLst>
                  <a:path h="192732" w="767676">
                    <a:moveTo>
                      <a:pt x="80875" y="0"/>
                    </a:moveTo>
                    <a:lnTo>
                      <a:pt x="686801" y="0"/>
                    </a:lnTo>
                    <a:cubicBezTo>
                      <a:pt x="708251" y="0"/>
                      <a:pt x="728822" y="8521"/>
                      <a:pt x="743989" y="23688"/>
                    </a:cubicBezTo>
                    <a:cubicBezTo>
                      <a:pt x="759156" y="38855"/>
                      <a:pt x="767676" y="59426"/>
                      <a:pt x="767676" y="80875"/>
                    </a:cubicBezTo>
                    <a:lnTo>
                      <a:pt x="767676" y="111857"/>
                    </a:lnTo>
                    <a:cubicBezTo>
                      <a:pt x="767676" y="133307"/>
                      <a:pt x="759156" y="153877"/>
                      <a:pt x="743989" y="169044"/>
                    </a:cubicBezTo>
                    <a:cubicBezTo>
                      <a:pt x="728822" y="184212"/>
                      <a:pt x="708251" y="192732"/>
                      <a:pt x="686801" y="192732"/>
                    </a:cubicBezTo>
                    <a:lnTo>
                      <a:pt x="80875" y="192732"/>
                    </a:lnTo>
                    <a:cubicBezTo>
                      <a:pt x="59426" y="192732"/>
                      <a:pt x="38855" y="184212"/>
                      <a:pt x="23688" y="169044"/>
                    </a:cubicBezTo>
                    <a:cubicBezTo>
                      <a:pt x="8521" y="153877"/>
                      <a:pt x="0" y="133307"/>
                      <a:pt x="0" y="111857"/>
                    </a:cubicBezTo>
                    <a:lnTo>
                      <a:pt x="0" y="80875"/>
                    </a:lnTo>
                    <a:cubicBezTo>
                      <a:pt x="0" y="59426"/>
                      <a:pt x="8521" y="38855"/>
                      <a:pt x="23688" y="23688"/>
                    </a:cubicBezTo>
                    <a:cubicBezTo>
                      <a:pt x="38855" y="8521"/>
                      <a:pt x="59426" y="0"/>
                      <a:pt x="80875" y="0"/>
                    </a:cubicBezTo>
                    <a:close/>
                  </a:path>
                </a:pathLst>
              </a:custGeom>
              <a:solidFill>
                <a:srgbClr val="78AF95">
                  <a:alpha val="88627"/>
                </a:srgbClr>
              </a:solidFill>
              <a:ln w="38100" cap="rnd">
                <a:solidFill>
                  <a:srgbClr val="000000">
                    <a:alpha val="88627"/>
                  </a:srgbClr>
                </a:solidFill>
                <a:prstDash val="solid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66675"/>
                <a:ext cx="767676" cy="2594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76237" y="105788"/>
              <a:ext cx="3076598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1341C">
                      <a:alpha val="88627"/>
                    </a:srgbClr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Introduction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996262" y="3134584"/>
            <a:ext cx="12824361" cy="7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364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Sounds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62690" y="3282628"/>
            <a:ext cx="3898470" cy="5312747"/>
            <a:chOff x="0" y="0"/>
            <a:chExt cx="5377180" cy="73279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350" y="6350"/>
              <a:ext cx="5364480" cy="7315200"/>
            </a:xfrm>
            <a:custGeom>
              <a:avLst/>
              <a:gdLst/>
              <a:ahLst/>
              <a:cxnLst/>
              <a:rect r="r" b="b" t="t" l="l"/>
              <a:pathLst>
                <a:path h="7315200" w="5364480">
                  <a:moveTo>
                    <a:pt x="0" y="322072"/>
                  </a:moveTo>
                  <a:cubicBezTo>
                    <a:pt x="0" y="144145"/>
                    <a:pt x="144145" y="0"/>
                    <a:pt x="321818" y="0"/>
                  </a:cubicBezTo>
                  <a:lnTo>
                    <a:pt x="5042662" y="0"/>
                  </a:lnTo>
                  <a:cubicBezTo>
                    <a:pt x="5220462" y="0"/>
                    <a:pt x="5364480" y="144145"/>
                    <a:pt x="5364480" y="322072"/>
                  </a:cubicBezTo>
                  <a:lnTo>
                    <a:pt x="5364480" y="6993128"/>
                  </a:lnTo>
                  <a:cubicBezTo>
                    <a:pt x="5364480" y="7171055"/>
                    <a:pt x="5220335" y="7315200"/>
                    <a:pt x="5042662" y="7315200"/>
                  </a:cubicBezTo>
                  <a:lnTo>
                    <a:pt x="321818" y="7315200"/>
                  </a:lnTo>
                  <a:cubicBezTo>
                    <a:pt x="144145" y="7315200"/>
                    <a:pt x="0" y="7171055"/>
                    <a:pt x="0" y="6993128"/>
                  </a:cubicBezTo>
                  <a:close/>
                </a:path>
              </a:pathLst>
            </a:custGeom>
            <a:solidFill>
              <a:srgbClr val="CCDDD2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77180" cy="7327900"/>
            </a:xfrm>
            <a:custGeom>
              <a:avLst/>
              <a:gdLst/>
              <a:ahLst/>
              <a:cxnLst/>
              <a:rect r="r" b="b" t="t" l="l"/>
              <a:pathLst>
                <a:path h="7327900" w="5377180">
                  <a:moveTo>
                    <a:pt x="0" y="328422"/>
                  </a:moveTo>
                  <a:cubicBezTo>
                    <a:pt x="0" y="147066"/>
                    <a:pt x="146939" y="0"/>
                    <a:pt x="328168" y="0"/>
                  </a:cubicBezTo>
                  <a:lnTo>
                    <a:pt x="5049012" y="0"/>
                  </a:lnTo>
                  <a:lnTo>
                    <a:pt x="5049012" y="6350"/>
                  </a:lnTo>
                  <a:lnTo>
                    <a:pt x="5049012" y="0"/>
                  </a:lnTo>
                  <a:cubicBezTo>
                    <a:pt x="5230241" y="0"/>
                    <a:pt x="5377180" y="147066"/>
                    <a:pt x="5377180" y="328422"/>
                  </a:cubicBezTo>
                  <a:lnTo>
                    <a:pt x="5370830" y="328422"/>
                  </a:lnTo>
                  <a:lnTo>
                    <a:pt x="5377180" y="328422"/>
                  </a:lnTo>
                  <a:lnTo>
                    <a:pt x="5377180" y="6999478"/>
                  </a:lnTo>
                  <a:lnTo>
                    <a:pt x="5370830" y="6999478"/>
                  </a:lnTo>
                  <a:lnTo>
                    <a:pt x="5377180" y="6999478"/>
                  </a:lnTo>
                  <a:cubicBezTo>
                    <a:pt x="5377180" y="7180835"/>
                    <a:pt x="5230241" y="7327900"/>
                    <a:pt x="5049012" y="7327900"/>
                  </a:cubicBezTo>
                  <a:lnTo>
                    <a:pt x="5049012" y="7321550"/>
                  </a:lnTo>
                  <a:lnTo>
                    <a:pt x="5049012" y="7327900"/>
                  </a:lnTo>
                  <a:lnTo>
                    <a:pt x="328168" y="7327900"/>
                  </a:lnTo>
                  <a:lnTo>
                    <a:pt x="328168" y="7321550"/>
                  </a:lnTo>
                  <a:lnTo>
                    <a:pt x="328168" y="7327900"/>
                  </a:lnTo>
                  <a:cubicBezTo>
                    <a:pt x="146939" y="7327900"/>
                    <a:pt x="0" y="7180834"/>
                    <a:pt x="0" y="6999478"/>
                  </a:cubicBezTo>
                  <a:lnTo>
                    <a:pt x="0" y="328422"/>
                  </a:lnTo>
                  <a:lnTo>
                    <a:pt x="6350" y="328422"/>
                  </a:lnTo>
                  <a:lnTo>
                    <a:pt x="0" y="328422"/>
                  </a:lnTo>
                  <a:moveTo>
                    <a:pt x="12700" y="328422"/>
                  </a:moveTo>
                  <a:lnTo>
                    <a:pt x="12700" y="6999478"/>
                  </a:lnTo>
                  <a:lnTo>
                    <a:pt x="6350" y="6999478"/>
                  </a:lnTo>
                  <a:lnTo>
                    <a:pt x="12700" y="6999478"/>
                  </a:lnTo>
                  <a:cubicBezTo>
                    <a:pt x="12700" y="7173849"/>
                    <a:pt x="153924" y="7315200"/>
                    <a:pt x="328168" y="7315200"/>
                  </a:cubicBezTo>
                  <a:lnTo>
                    <a:pt x="5049012" y="7315200"/>
                  </a:lnTo>
                  <a:cubicBezTo>
                    <a:pt x="5223256" y="7315200"/>
                    <a:pt x="5364480" y="7173849"/>
                    <a:pt x="5364480" y="6999478"/>
                  </a:cubicBezTo>
                  <a:lnTo>
                    <a:pt x="5364480" y="328422"/>
                  </a:lnTo>
                  <a:cubicBezTo>
                    <a:pt x="5364480" y="154051"/>
                    <a:pt x="5223256" y="12700"/>
                    <a:pt x="5049012" y="12700"/>
                  </a:cubicBezTo>
                  <a:lnTo>
                    <a:pt x="328168" y="12700"/>
                  </a:lnTo>
                  <a:lnTo>
                    <a:pt x="328168" y="6350"/>
                  </a:lnTo>
                  <a:lnTo>
                    <a:pt x="328168" y="12700"/>
                  </a:lnTo>
                  <a:cubicBezTo>
                    <a:pt x="153924" y="12700"/>
                    <a:pt x="12700" y="154051"/>
                    <a:pt x="12700" y="328422"/>
                  </a:cubicBezTo>
                  <a:close/>
                </a:path>
              </a:pathLst>
            </a:custGeom>
            <a:solidFill>
              <a:srgbClr val="CCDDD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67294" y="3287232"/>
            <a:ext cx="3889262" cy="441962"/>
            <a:chOff x="0" y="0"/>
            <a:chExt cx="5364480" cy="609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64480" cy="609600"/>
            </a:xfrm>
            <a:custGeom>
              <a:avLst/>
              <a:gdLst/>
              <a:ahLst/>
              <a:cxnLst/>
              <a:rect r="r" b="b" t="t" l="l"/>
              <a:pathLst>
                <a:path h="609600" w="536448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5303520" y="0"/>
                  </a:lnTo>
                  <a:cubicBezTo>
                    <a:pt x="5337175" y="0"/>
                    <a:pt x="5364480" y="27305"/>
                    <a:pt x="5364480" y="60960"/>
                  </a:cubicBezTo>
                  <a:lnTo>
                    <a:pt x="5364480" y="548640"/>
                  </a:lnTo>
                  <a:cubicBezTo>
                    <a:pt x="5364480" y="582295"/>
                    <a:pt x="5337175" y="609600"/>
                    <a:pt x="5303520" y="609600"/>
                  </a:cubicBezTo>
                  <a:lnTo>
                    <a:pt x="60960" y="609600"/>
                  </a:lnTo>
                  <a:cubicBezTo>
                    <a:pt x="27305" y="609600"/>
                    <a:pt x="0" y="582295"/>
                    <a:pt x="0" y="548640"/>
                  </a:cubicBezTo>
                  <a:close/>
                </a:path>
              </a:pathLst>
            </a:custGeom>
            <a:solidFill>
              <a:srgbClr val="006C75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167294" y="3287232"/>
            <a:ext cx="3889262" cy="441962"/>
            <a:chOff x="0" y="0"/>
            <a:chExt cx="5364480" cy="609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64480" cy="609600"/>
            </a:xfrm>
            <a:custGeom>
              <a:avLst/>
              <a:gdLst/>
              <a:ahLst/>
              <a:cxnLst/>
              <a:rect r="r" b="b" t="t" l="l"/>
              <a:pathLst>
                <a:path h="6096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1468" r="0" b="-12146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536448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83"/>
                </a:lnSpc>
              </a:pPr>
              <a:r>
                <a:rPr lang="en-US" sz="18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Pure tones (PT)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228737" y="3282628"/>
            <a:ext cx="3898470" cy="5312747"/>
            <a:chOff x="0" y="0"/>
            <a:chExt cx="5377180" cy="73279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6350" y="6350"/>
              <a:ext cx="5364480" cy="7315200"/>
            </a:xfrm>
            <a:custGeom>
              <a:avLst/>
              <a:gdLst/>
              <a:ahLst/>
              <a:cxnLst/>
              <a:rect r="r" b="b" t="t" l="l"/>
              <a:pathLst>
                <a:path h="7315200" w="5364480">
                  <a:moveTo>
                    <a:pt x="0" y="322072"/>
                  </a:moveTo>
                  <a:cubicBezTo>
                    <a:pt x="0" y="144145"/>
                    <a:pt x="144145" y="0"/>
                    <a:pt x="321818" y="0"/>
                  </a:cubicBezTo>
                  <a:lnTo>
                    <a:pt x="5042662" y="0"/>
                  </a:lnTo>
                  <a:cubicBezTo>
                    <a:pt x="5220462" y="0"/>
                    <a:pt x="5364480" y="144145"/>
                    <a:pt x="5364480" y="322072"/>
                  </a:cubicBezTo>
                  <a:lnTo>
                    <a:pt x="5364480" y="6993128"/>
                  </a:lnTo>
                  <a:cubicBezTo>
                    <a:pt x="5364480" y="7171055"/>
                    <a:pt x="5220335" y="7315200"/>
                    <a:pt x="5042662" y="7315200"/>
                  </a:cubicBezTo>
                  <a:lnTo>
                    <a:pt x="321818" y="7315200"/>
                  </a:lnTo>
                  <a:cubicBezTo>
                    <a:pt x="144145" y="7315200"/>
                    <a:pt x="0" y="7171055"/>
                    <a:pt x="0" y="6993128"/>
                  </a:cubicBezTo>
                  <a:close/>
                </a:path>
              </a:pathLst>
            </a:custGeom>
            <a:solidFill>
              <a:srgbClr val="CCDDD2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77180" cy="7327900"/>
            </a:xfrm>
            <a:custGeom>
              <a:avLst/>
              <a:gdLst/>
              <a:ahLst/>
              <a:cxnLst/>
              <a:rect r="r" b="b" t="t" l="l"/>
              <a:pathLst>
                <a:path h="7327900" w="5377180">
                  <a:moveTo>
                    <a:pt x="0" y="328422"/>
                  </a:moveTo>
                  <a:cubicBezTo>
                    <a:pt x="0" y="147066"/>
                    <a:pt x="146939" y="0"/>
                    <a:pt x="328168" y="0"/>
                  </a:cubicBezTo>
                  <a:lnTo>
                    <a:pt x="5049012" y="0"/>
                  </a:lnTo>
                  <a:lnTo>
                    <a:pt x="5049012" y="6350"/>
                  </a:lnTo>
                  <a:lnTo>
                    <a:pt x="5049012" y="0"/>
                  </a:lnTo>
                  <a:cubicBezTo>
                    <a:pt x="5230241" y="0"/>
                    <a:pt x="5377180" y="147066"/>
                    <a:pt x="5377180" y="328422"/>
                  </a:cubicBezTo>
                  <a:lnTo>
                    <a:pt x="5370830" y="328422"/>
                  </a:lnTo>
                  <a:lnTo>
                    <a:pt x="5377180" y="328422"/>
                  </a:lnTo>
                  <a:lnTo>
                    <a:pt x="5377180" y="6999478"/>
                  </a:lnTo>
                  <a:lnTo>
                    <a:pt x="5370830" y="6999478"/>
                  </a:lnTo>
                  <a:lnTo>
                    <a:pt x="5377180" y="6999478"/>
                  </a:lnTo>
                  <a:cubicBezTo>
                    <a:pt x="5377180" y="7180835"/>
                    <a:pt x="5230241" y="7327900"/>
                    <a:pt x="5049012" y="7327900"/>
                  </a:cubicBezTo>
                  <a:lnTo>
                    <a:pt x="5049012" y="7321550"/>
                  </a:lnTo>
                  <a:lnTo>
                    <a:pt x="5049012" y="7327900"/>
                  </a:lnTo>
                  <a:lnTo>
                    <a:pt x="328168" y="7327900"/>
                  </a:lnTo>
                  <a:lnTo>
                    <a:pt x="328168" y="7321550"/>
                  </a:lnTo>
                  <a:lnTo>
                    <a:pt x="328168" y="7327900"/>
                  </a:lnTo>
                  <a:cubicBezTo>
                    <a:pt x="146939" y="7327900"/>
                    <a:pt x="0" y="7180834"/>
                    <a:pt x="0" y="6999478"/>
                  </a:cubicBezTo>
                  <a:lnTo>
                    <a:pt x="0" y="328422"/>
                  </a:lnTo>
                  <a:lnTo>
                    <a:pt x="6350" y="328422"/>
                  </a:lnTo>
                  <a:lnTo>
                    <a:pt x="0" y="328422"/>
                  </a:lnTo>
                  <a:moveTo>
                    <a:pt x="12700" y="328422"/>
                  </a:moveTo>
                  <a:lnTo>
                    <a:pt x="12700" y="6999478"/>
                  </a:lnTo>
                  <a:lnTo>
                    <a:pt x="6350" y="6999478"/>
                  </a:lnTo>
                  <a:lnTo>
                    <a:pt x="12700" y="6999478"/>
                  </a:lnTo>
                  <a:cubicBezTo>
                    <a:pt x="12700" y="7173849"/>
                    <a:pt x="153924" y="7315200"/>
                    <a:pt x="328168" y="7315200"/>
                  </a:cubicBezTo>
                  <a:lnTo>
                    <a:pt x="5049012" y="7315200"/>
                  </a:lnTo>
                  <a:cubicBezTo>
                    <a:pt x="5223256" y="7315200"/>
                    <a:pt x="5364480" y="7173849"/>
                    <a:pt x="5364480" y="6999478"/>
                  </a:cubicBezTo>
                  <a:lnTo>
                    <a:pt x="5364480" y="328422"/>
                  </a:lnTo>
                  <a:cubicBezTo>
                    <a:pt x="5364480" y="154051"/>
                    <a:pt x="5223256" y="12700"/>
                    <a:pt x="5049012" y="12700"/>
                  </a:cubicBezTo>
                  <a:lnTo>
                    <a:pt x="328168" y="12700"/>
                  </a:lnTo>
                  <a:lnTo>
                    <a:pt x="328168" y="6350"/>
                  </a:lnTo>
                  <a:lnTo>
                    <a:pt x="328168" y="12700"/>
                  </a:lnTo>
                  <a:cubicBezTo>
                    <a:pt x="153924" y="12700"/>
                    <a:pt x="12700" y="154051"/>
                    <a:pt x="12700" y="328422"/>
                  </a:cubicBezTo>
                  <a:close/>
                </a:path>
              </a:pathLst>
            </a:custGeom>
            <a:solidFill>
              <a:srgbClr val="CCDDD2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5233341" y="3287232"/>
            <a:ext cx="3889262" cy="441962"/>
            <a:chOff x="0" y="0"/>
            <a:chExt cx="5364480" cy="609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364480" cy="609600"/>
            </a:xfrm>
            <a:custGeom>
              <a:avLst/>
              <a:gdLst/>
              <a:ahLst/>
              <a:cxnLst/>
              <a:rect r="r" b="b" t="t" l="l"/>
              <a:pathLst>
                <a:path h="609600" w="536448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5303520" y="0"/>
                  </a:lnTo>
                  <a:cubicBezTo>
                    <a:pt x="5337175" y="0"/>
                    <a:pt x="5364480" y="27305"/>
                    <a:pt x="5364480" y="60960"/>
                  </a:cubicBezTo>
                  <a:lnTo>
                    <a:pt x="5364480" y="548640"/>
                  </a:lnTo>
                  <a:cubicBezTo>
                    <a:pt x="5364480" y="582295"/>
                    <a:pt x="5337175" y="609600"/>
                    <a:pt x="5303520" y="609600"/>
                  </a:cubicBezTo>
                  <a:lnTo>
                    <a:pt x="60960" y="609600"/>
                  </a:lnTo>
                  <a:cubicBezTo>
                    <a:pt x="27305" y="609600"/>
                    <a:pt x="0" y="582295"/>
                    <a:pt x="0" y="548640"/>
                  </a:cubicBezTo>
                  <a:close/>
                </a:path>
              </a:pathLst>
            </a:custGeom>
            <a:solidFill>
              <a:srgbClr val="B83A6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233341" y="3287232"/>
            <a:ext cx="3889262" cy="441962"/>
            <a:chOff x="0" y="0"/>
            <a:chExt cx="5364480" cy="609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364480" cy="609600"/>
            </a:xfrm>
            <a:custGeom>
              <a:avLst/>
              <a:gdLst/>
              <a:ahLst/>
              <a:cxnLst/>
              <a:rect r="r" b="b" t="t" l="l"/>
              <a:pathLst>
                <a:path h="6096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09600"/>
                  </a:lnTo>
                  <a:lnTo>
                    <a:pt x="0" y="609600"/>
                  </a:lnTo>
                  <a:close/>
                </a:path>
              </a:pathLst>
            </a:custGeom>
            <a:solidFill>
              <a:srgbClr val="D17C7C">
                <a:alpha val="0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536448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83"/>
                </a:lnSpc>
              </a:pPr>
              <a:r>
                <a:rPr lang="en-US" sz="18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Amplitude modulated (AM)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294784" y="3282628"/>
            <a:ext cx="3898470" cy="5312747"/>
            <a:chOff x="0" y="0"/>
            <a:chExt cx="5377180" cy="73279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6350" y="6350"/>
              <a:ext cx="5364480" cy="7315200"/>
            </a:xfrm>
            <a:custGeom>
              <a:avLst/>
              <a:gdLst/>
              <a:ahLst/>
              <a:cxnLst/>
              <a:rect r="r" b="b" t="t" l="l"/>
              <a:pathLst>
                <a:path h="7315200" w="5364480">
                  <a:moveTo>
                    <a:pt x="0" y="322072"/>
                  </a:moveTo>
                  <a:cubicBezTo>
                    <a:pt x="0" y="144145"/>
                    <a:pt x="144145" y="0"/>
                    <a:pt x="321818" y="0"/>
                  </a:cubicBezTo>
                  <a:lnTo>
                    <a:pt x="5042662" y="0"/>
                  </a:lnTo>
                  <a:cubicBezTo>
                    <a:pt x="5220462" y="0"/>
                    <a:pt x="5364480" y="144145"/>
                    <a:pt x="5364480" y="322072"/>
                  </a:cubicBezTo>
                  <a:lnTo>
                    <a:pt x="5364480" y="6993128"/>
                  </a:lnTo>
                  <a:cubicBezTo>
                    <a:pt x="5364480" y="7171055"/>
                    <a:pt x="5220335" y="7315200"/>
                    <a:pt x="5042662" y="7315200"/>
                  </a:cubicBezTo>
                  <a:lnTo>
                    <a:pt x="321818" y="7315200"/>
                  </a:lnTo>
                  <a:cubicBezTo>
                    <a:pt x="144145" y="7315200"/>
                    <a:pt x="0" y="7171055"/>
                    <a:pt x="0" y="6993128"/>
                  </a:cubicBezTo>
                  <a:close/>
                </a:path>
              </a:pathLst>
            </a:custGeom>
            <a:solidFill>
              <a:srgbClr val="CCDDD2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377180" cy="7327900"/>
            </a:xfrm>
            <a:custGeom>
              <a:avLst/>
              <a:gdLst/>
              <a:ahLst/>
              <a:cxnLst/>
              <a:rect r="r" b="b" t="t" l="l"/>
              <a:pathLst>
                <a:path h="7327900" w="5377180">
                  <a:moveTo>
                    <a:pt x="0" y="328422"/>
                  </a:moveTo>
                  <a:cubicBezTo>
                    <a:pt x="0" y="147066"/>
                    <a:pt x="146939" y="0"/>
                    <a:pt x="328168" y="0"/>
                  </a:cubicBezTo>
                  <a:lnTo>
                    <a:pt x="5049012" y="0"/>
                  </a:lnTo>
                  <a:lnTo>
                    <a:pt x="5049012" y="6350"/>
                  </a:lnTo>
                  <a:lnTo>
                    <a:pt x="5049012" y="0"/>
                  </a:lnTo>
                  <a:cubicBezTo>
                    <a:pt x="5230241" y="0"/>
                    <a:pt x="5377180" y="147066"/>
                    <a:pt x="5377180" y="328422"/>
                  </a:cubicBezTo>
                  <a:lnTo>
                    <a:pt x="5370830" y="328422"/>
                  </a:lnTo>
                  <a:lnTo>
                    <a:pt x="5377180" y="328422"/>
                  </a:lnTo>
                  <a:lnTo>
                    <a:pt x="5377180" y="6999478"/>
                  </a:lnTo>
                  <a:lnTo>
                    <a:pt x="5370830" y="6999478"/>
                  </a:lnTo>
                  <a:lnTo>
                    <a:pt x="5377180" y="6999478"/>
                  </a:lnTo>
                  <a:cubicBezTo>
                    <a:pt x="5377180" y="7180835"/>
                    <a:pt x="5230241" y="7327900"/>
                    <a:pt x="5049012" y="7327900"/>
                  </a:cubicBezTo>
                  <a:lnTo>
                    <a:pt x="5049012" y="7321550"/>
                  </a:lnTo>
                  <a:lnTo>
                    <a:pt x="5049012" y="7327900"/>
                  </a:lnTo>
                  <a:lnTo>
                    <a:pt x="328168" y="7327900"/>
                  </a:lnTo>
                  <a:lnTo>
                    <a:pt x="328168" y="7321550"/>
                  </a:lnTo>
                  <a:lnTo>
                    <a:pt x="328168" y="7327900"/>
                  </a:lnTo>
                  <a:cubicBezTo>
                    <a:pt x="146939" y="7327900"/>
                    <a:pt x="0" y="7180834"/>
                    <a:pt x="0" y="6999478"/>
                  </a:cubicBezTo>
                  <a:lnTo>
                    <a:pt x="0" y="328422"/>
                  </a:lnTo>
                  <a:lnTo>
                    <a:pt x="6350" y="328422"/>
                  </a:lnTo>
                  <a:lnTo>
                    <a:pt x="0" y="328422"/>
                  </a:lnTo>
                  <a:moveTo>
                    <a:pt x="12700" y="328422"/>
                  </a:moveTo>
                  <a:lnTo>
                    <a:pt x="12700" y="6999478"/>
                  </a:lnTo>
                  <a:lnTo>
                    <a:pt x="6350" y="6999478"/>
                  </a:lnTo>
                  <a:lnTo>
                    <a:pt x="12700" y="6999478"/>
                  </a:lnTo>
                  <a:cubicBezTo>
                    <a:pt x="12700" y="7173849"/>
                    <a:pt x="153924" y="7315200"/>
                    <a:pt x="328168" y="7315200"/>
                  </a:cubicBezTo>
                  <a:lnTo>
                    <a:pt x="5049012" y="7315200"/>
                  </a:lnTo>
                  <a:cubicBezTo>
                    <a:pt x="5223256" y="7315200"/>
                    <a:pt x="5364480" y="7173849"/>
                    <a:pt x="5364480" y="6999478"/>
                  </a:cubicBezTo>
                  <a:lnTo>
                    <a:pt x="5364480" y="328422"/>
                  </a:lnTo>
                  <a:cubicBezTo>
                    <a:pt x="5364480" y="154051"/>
                    <a:pt x="5223256" y="12700"/>
                    <a:pt x="5049012" y="12700"/>
                  </a:cubicBezTo>
                  <a:lnTo>
                    <a:pt x="328168" y="12700"/>
                  </a:lnTo>
                  <a:lnTo>
                    <a:pt x="328168" y="6350"/>
                  </a:lnTo>
                  <a:lnTo>
                    <a:pt x="328168" y="12700"/>
                  </a:lnTo>
                  <a:cubicBezTo>
                    <a:pt x="153924" y="12700"/>
                    <a:pt x="12700" y="154051"/>
                    <a:pt x="12700" y="328422"/>
                  </a:cubicBezTo>
                  <a:close/>
                </a:path>
              </a:pathLst>
            </a:custGeom>
            <a:solidFill>
              <a:srgbClr val="CCDDD2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299387" y="3287232"/>
            <a:ext cx="3889262" cy="441962"/>
            <a:chOff x="0" y="0"/>
            <a:chExt cx="5364480" cy="609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364480" cy="609600"/>
            </a:xfrm>
            <a:custGeom>
              <a:avLst/>
              <a:gdLst/>
              <a:ahLst/>
              <a:cxnLst/>
              <a:rect r="r" b="b" t="t" l="l"/>
              <a:pathLst>
                <a:path h="609600" w="536448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5303520" y="0"/>
                  </a:lnTo>
                  <a:cubicBezTo>
                    <a:pt x="5337175" y="0"/>
                    <a:pt x="5364480" y="27305"/>
                    <a:pt x="5364480" y="60960"/>
                  </a:cubicBezTo>
                  <a:lnTo>
                    <a:pt x="5364480" y="548640"/>
                  </a:lnTo>
                  <a:cubicBezTo>
                    <a:pt x="5364480" y="582295"/>
                    <a:pt x="5337175" y="609600"/>
                    <a:pt x="5303520" y="609600"/>
                  </a:cubicBezTo>
                  <a:lnTo>
                    <a:pt x="60960" y="609600"/>
                  </a:lnTo>
                  <a:cubicBezTo>
                    <a:pt x="27305" y="609600"/>
                    <a:pt x="0" y="582295"/>
                    <a:pt x="0" y="548640"/>
                  </a:cubicBezTo>
                  <a:close/>
                </a:path>
              </a:pathLst>
            </a:custGeom>
            <a:solidFill>
              <a:srgbClr val="C77428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299387" y="3287232"/>
            <a:ext cx="3889262" cy="441962"/>
            <a:chOff x="0" y="0"/>
            <a:chExt cx="5364480" cy="6096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364480" cy="609600"/>
            </a:xfrm>
            <a:custGeom>
              <a:avLst/>
              <a:gdLst/>
              <a:ahLst/>
              <a:cxnLst/>
              <a:rect r="r" b="b" t="t" l="l"/>
              <a:pathLst>
                <a:path h="6096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1468" r="0" b="-12146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536448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83"/>
                </a:lnSpc>
              </a:pPr>
              <a:r>
                <a:rPr lang="en-US" sz="18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Natural sounds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3360830" y="3282628"/>
            <a:ext cx="3898470" cy="5312747"/>
            <a:chOff x="0" y="0"/>
            <a:chExt cx="5377180" cy="73279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6350" y="6350"/>
              <a:ext cx="5364480" cy="7315200"/>
            </a:xfrm>
            <a:custGeom>
              <a:avLst/>
              <a:gdLst/>
              <a:ahLst/>
              <a:cxnLst/>
              <a:rect r="r" b="b" t="t" l="l"/>
              <a:pathLst>
                <a:path h="7315200" w="5364480">
                  <a:moveTo>
                    <a:pt x="0" y="322072"/>
                  </a:moveTo>
                  <a:cubicBezTo>
                    <a:pt x="0" y="144145"/>
                    <a:pt x="144145" y="0"/>
                    <a:pt x="321818" y="0"/>
                  </a:cubicBezTo>
                  <a:lnTo>
                    <a:pt x="5042662" y="0"/>
                  </a:lnTo>
                  <a:cubicBezTo>
                    <a:pt x="5220462" y="0"/>
                    <a:pt x="5364480" y="144145"/>
                    <a:pt x="5364480" y="322072"/>
                  </a:cubicBezTo>
                  <a:lnTo>
                    <a:pt x="5364480" y="6993128"/>
                  </a:lnTo>
                  <a:cubicBezTo>
                    <a:pt x="5364480" y="7171055"/>
                    <a:pt x="5220335" y="7315200"/>
                    <a:pt x="5042662" y="7315200"/>
                  </a:cubicBezTo>
                  <a:lnTo>
                    <a:pt x="321818" y="7315200"/>
                  </a:lnTo>
                  <a:cubicBezTo>
                    <a:pt x="144145" y="7315200"/>
                    <a:pt x="0" y="7171055"/>
                    <a:pt x="0" y="6993128"/>
                  </a:cubicBezTo>
                  <a:close/>
                </a:path>
              </a:pathLst>
            </a:custGeom>
            <a:solidFill>
              <a:srgbClr val="CCDDD2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377180" cy="7327900"/>
            </a:xfrm>
            <a:custGeom>
              <a:avLst/>
              <a:gdLst/>
              <a:ahLst/>
              <a:cxnLst/>
              <a:rect r="r" b="b" t="t" l="l"/>
              <a:pathLst>
                <a:path h="7327900" w="5377180">
                  <a:moveTo>
                    <a:pt x="0" y="328422"/>
                  </a:moveTo>
                  <a:cubicBezTo>
                    <a:pt x="0" y="147066"/>
                    <a:pt x="146939" y="0"/>
                    <a:pt x="328168" y="0"/>
                  </a:cubicBezTo>
                  <a:lnTo>
                    <a:pt x="5049012" y="0"/>
                  </a:lnTo>
                  <a:lnTo>
                    <a:pt x="5049012" y="6350"/>
                  </a:lnTo>
                  <a:lnTo>
                    <a:pt x="5049012" y="0"/>
                  </a:lnTo>
                  <a:cubicBezTo>
                    <a:pt x="5230241" y="0"/>
                    <a:pt x="5377180" y="147066"/>
                    <a:pt x="5377180" y="328422"/>
                  </a:cubicBezTo>
                  <a:lnTo>
                    <a:pt x="5370830" y="328422"/>
                  </a:lnTo>
                  <a:lnTo>
                    <a:pt x="5377180" y="328422"/>
                  </a:lnTo>
                  <a:lnTo>
                    <a:pt x="5377180" y="6999478"/>
                  </a:lnTo>
                  <a:lnTo>
                    <a:pt x="5370830" y="6999478"/>
                  </a:lnTo>
                  <a:lnTo>
                    <a:pt x="5377180" y="6999478"/>
                  </a:lnTo>
                  <a:cubicBezTo>
                    <a:pt x="5377180" y="7180835"/>
                    <a:pt x="5230241" y="7327900"/>
                    <a:pt x="5049012" y="7327900"/>
                  </a:cubicBezTo>
                  <a:lnTo>
                    <a:pt x="5049012" y="7321550"/>
                  </a:lnTo>
                  <a:lnTo>
                    <a:pt x="5049012" y="7327900"/>
                  </a:lnTo>
                  <a:lnTo>
                    <a:pt x="328168" y="7327900"/>
                  </a:lnTo>
                  <a:lnTo>
                    <a:pt x="328168" y="7321550"/>
                  </a:lnTo>
                  <a:lnTo>
                    <a:pt x="328168" y="7327900"/>
                  </a:lnTo>
                  <a:cubicBezTo>
                    <a:pt x="146939" y="7327900"/>
                    <a:pt x="0" y="7180834"/>
                    <a:pt x="0" y="6999478"/>
                  </a:cubicBezTo>
                  <a:lnTo>
                    <a:pt x="0" y="328422"/>
                  </a:lnTo>
                  <a:lnTo>
                    <a:pt x="6350" y="328422"/>
                  </a:lnTo>
                  <a:lnTo>
                    <a:pt x="0" y="328422"/>
                  </a:lnTo>
                  <a:moveTo>
                    <a:pt x="12700" y="328422"/>
                  </a:moveTo>
                  <a:lnTo>
                    <a:pt x="12700" y="6999478"/>
                  </a:lnTo>
                  <a:lnTo>
                    <a:pt x="6350" y="6999478"/>
                  </a:lnTo>
                  <a:lnTo>
                    <a:pt x="12700" y="6999478"/>
                  </a:lnTo>
                  <a:cubicBezTo>
                    <a:pt x="12700" y="7173849"/>
                    <a:pt x="153924" y="7315200"/>
                    <a:pt x="328168" y="7315200"/>
                  </a:cubicBezTo>
                  <a:lnTo>
                    <a:pt x="5049012" y="7315200"/>
                  </a:lnTo>
                  <a:cubicBezTo>
                    <a:pt x="5223256" y="7315200"/>
                    <a:pt x="5364480" y="7173849"/>
                    <a:pt x="5364480" y="6999478"/>
                  </a:cubicBezTo>
                  <a:lnTo>
                    <a:pt x="5364480" y="328422"/>
                  </a:lnTo>
                  <a:cubicBezTo>
                    <a:pt x="5364480" y="154051"/>
                    <a:pt x="5223256" y="12700"/>
                    <a:pt x="5049012" y="12700"/>
                  </a:cubicBezTo>
                  <a:lnTo>
                    <a:pt x="328168" y="12700"/>
                  </a:lnTo>
                  <a:lnTo>
                    <a:pt x="328168" y="6350"/>
                  </a:lnTo>
                  <a:lnTo>
                    <a:pt x="328168" y="12700"/>
                  </a:lnTo>
                  <a:cubicBezTo>
                    <a:pt x="153924" y="12700"/>
                    <a:pt x="12700" y="154051"/>
                    <a:pt x="12700" y="328422"/>
                  </a:cubicBezTo>
                  <a:close/>
                </a:path>
              </a:pathLst>
            </a:custGeom>
            <a:solidFill>
              <a:srgbClr val="CCDDD2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3365434" y="3287232"/>
            <a:ext cx="3889262" cy="441962"/>
            <a:chOff x="0" y="0"/>
            <a:chExt cx="5364480" cy="609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364480" cy="609600"/>
            </a:xfrm>
            <a:custGeom>
              <a:avLst/>
              <a:gdLst/>
              <a:ahLst/>
              <a:cxnLst/>
              <a:rect r="r" b="b" t="t" l="l"/>
              <a:pathLst>
                <a:path h="609600" w="536448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5303520" y="0"/>
                  </a:lnTo>
                  <a:cubicBezTo>
                    <a:pt x="5337175" y="0"/>
                    <a:pt x="5364480" y="27305"/>
                    <a:pt x="5364480" y="60960"/>
                  </a:cubicBezTo>
                  <a:lnTo>
                    <a:pt x="5364480" y="548640"/>
                  </a:lnTo>
                  <a:cubicBezTo>
                    <a:pt x="5364480" y="582295"/>
                    <a:pt x="5337175" y="609600"/>
                    <a:pt x="5303520" y="609600"/>
                  </a:cubicBezTo>
                  <a:lnTo>
                    <a:pt x="60960" y="609600"/>
                  </a:lnTo>
                  <a:cubicBezTo>
                    <a:pt x="27305" y="609600"/>
                    <a:pt x="0" y="582295"/>
                    <a:pt x="0" y="548640"/>
                  </a:cubicBezTo>
                  <a:close/>
                </a:path>
              </a:pathLst>
            </a:custGeom>
            <a:solidFill>
              <a:srgbClr val="5A4B91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365434" y="3287232"/>
            <a:ext cx="3889262" cy="441962"/>
            <a:chOff x="0" y="0"/>
            <a:chExt cx="5364480" cy="6096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364480" cy="609600"/>
            </a:xfrm>
            <a:custGeom>
              <a:avLst/>
              <a:gdLst/>
              <a:ahLst/>
              <a:cxnLst/>
              <a:rect r="r" b="b" t="t" l="l"/>
              <a:pathLst>
                <a:path h="60960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1468" r="0" b="-12146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5364480" cy="638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83"/>
                </a:lnSpc>
              </a:pPr>
              <a:r>
                <a:rPr lang="en-US" sz="18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Speech</a:t>
              </a:r>
            </a:p>
          </p:txBody>
        </p:sp>
      </p:grpSp>
      <p:sp>
        <p:nvSpPr>
          <p:cNvPr name="AutoShape 57" id="57"/>
          <p:cNvSpPr/>
          <p:nvPr/>
        </p:nvSpPr>
        <p:spPr>
          <a:xfrm>
            <a:off x="1170274" y="8751488"/>
            <a:ext cx="15947452" cy="36740"/>
          </a:xfrm>
          <a:prstGeom prst="line">
            <a:avLst/>
          </a:prstGeom>
          <a:ln cap="rnd" w="28575">
            <a:solidFill>
              <a:srgbClr val="2D6A4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8" id="58"/>
          <p:cNvSpPr/>
          <p:nvPr/>
        </p:nvSpPr>
        <p:spPr>
          <a:xfrm flipH="false" flipV="false" rot="0">
            <a:off x="1435902" y="4047451"/>
            <a:ext cx="3402895" cy="3783101"/>
          </a:xfrm>
          <a:custGeom>
            <a:avLst/>
            <a:gdLst/>
            <a:ahLst/>
            <a:cxnLst/>
            <a:rect r="r" b="b" t="t" l="l"/>
            <a:pathLst>
              <a:path h="3783101" w="3402895">
                <a:moveTo>
                  <a:pt x="0" y="0"/>
                </a:moveTo>
                <a:lnTo>
                  <a:pt x="3402895" y="0"/>
                </a:lnTo>
                <a:lnTo>
                  <a:pt x="3402895" y="3783101"/>
                </a:lnTo>
                <a:lnTo>
                  <a:pt x="0" y="37831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70707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5412688" y="4047451"/>
            <a:ext cx="921209" cy="3783101"/>
          </a:xfrm>
          <a:custGeom>
            <a:avLst/>
            <a:gdLst/>
            <a:ahLst/>
            <a:cxnLst/>
            <a:rect r="r" b="b" t="t" l="l"/>
            <a:pathLst>
              <a:path h="3783101" w="921209">
                <a:moveTo>
                  <a:pt x="0" y="0"/>
                </a:moveTo>
                <a:lnTo>
                  <a:pt x="921209" y="0"/>
                </a:lnTo>
                <a:lnTo>
                  <a:pt x="921209" y="3783101"/>
                </a:lnTo>
                <a:lnTo>
                  <a:pt x="0" y="37831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530582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6496995" y="4047451"/>
            <a:ext cx="2545130" cy="3783101"/>
          </a:xfrm>
          <a:custGeom>
            <a:avLst/>
            <a:gdLst/>
            <a:ahLst/>
            <a:cxnLst/>
            <a:rect r="r" b="b" t="t" l="l"/>
            <a:pathLst>
              <a:path h="3783101" w="2545130">
                <a:moveTo>
                  <a:pt x="0" y="0"/>
                </a:moveTo>
                <a:lnTo>
                  <a:pt x="2545130" y="0"/>
                </a:lnTo>
                <a:lnTo>
                  <a:pt x="2545130" y="3783101"/>
                </a:lnTo>
                <a:lnTo>
                  <a:pt x="0" y="37831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8239" t="0" r="0" b="0"/>
            </a:stretch>
          </a:blipFill>
        </p:spPr>
      </p:sp>
      <p:sp>
        <p:nvSpPr>
          <p:cNvPr name="TextBox 61" id="61"/>
          <p:cNvSpPr txBox="true"/>
          <p:nvPr/>
        </p:nvSpPr>
        <p:spPr>
          <a:xfrm rot="0">
            <a:off x="3228281" y="-8066"/>
            <a:ext cx="3141887" cy="784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8"/>
              </a:lnSpc>
              <a:spcBef>
                <a:spcPct val="0"/>
              </a:spcBef>
            </a:pPr>
            <a:r>
              <a:rPr lang="en-US" sz="4084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Background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571159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Conclusion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06431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Methods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941788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Results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830402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Discussion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6316563" y="1461359"/>
            <a:ext cx="5654873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Experimental Design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548827" y="8007871"/>
            <a:ext cx="3358908" cy="111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sz="1450">
                <a:solidFill>
                  <a:srgbClr val="4A5C57"/>
                </a:solidFill>
                <a:latin typeface="Inter"/>
                <a:ea typeface="Inter"/>
                <a:cs typeface="Inter"/>
                <a:sym typeface="Inter"/>
              </a:rPr>
              <a:t>Simple sine waves, varying frequency.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5498518" y="8003267"/>
            <a:ext cx="3358908" cy="111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sz="1450">
                <a:solidFill>
                  <a:srgbClr val="4A5C57"/>
                </a:solidFill>
                <a:latin typeface="Inter"/>
                <a:ea typeface="Inter"/>
                <a:cs typeface="Inter"/>
                <a:sym typeface="Inter"/>
              </a:rPr>
              <a:t>Tones with rhythmic envelope.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564564" y="7207736"/>
            <a:ext cx="3358908" cy="111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sz="1450">
                <a:solidFill>
                  <a:srgbClr val="4A5C57"/>
                </a:solidFill>
                <a:latin typeface="Inter"/>
                <a:ea typeface="Inter"/>
                <a:cs typeface="Inter"/>
                <a:sym typeface="Inter"/>
              </a:rPr>
              <a:t>Frogs, birds, water — real soundscapes.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630611" y="7207736"/>
            <a:ext cx="3358908" cy="1117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sz="1450">
                <a:solidFill>
                  <a:srgbClr val="4A5C57"/>
                </a:solidFill>
                <a:latin typeface="Inter"/>
                <a:ea typeface="Inter"/>
                <a:cs typeface="Inter"/>
                <a:sym typeface="Inter"/>
              </a:rPr>
              <a:t>Spoken syllables.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67294" y="8731078"/>
            <a:ext cx="15910618" cy="561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6"/>
              </a:lnSpc>
            </a:pPr>
            <a:r>
              <a:rPr lang="en-US" sz="3359" b="true">
                <a:solidFill>
                  <a:srgbClr val="2D6A4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← simple                       complex →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0" y="0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71804" y="0"/>
            <a:ext cx="3910329" cy="930254"/>
            <a:chOff x="0" y="0"/>
            <a:chExt cx="767676" cy="1826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7676" cy="182628"/>
            </a:xfrm>
            <a:custGeom>
              <a:avLst/>
              <a:gdLst/>
              <a:ahLst/>
              <a:cxnLst/>
              <a:rect r="r" b="b" t="t" l="l"/>
              <a:pathLst>
                <a:path h="182628" w="767676">
                  <a:moveTo>
                    <a:pt x="59396" y="0"/>
                  </a:moveTo>
                  <a:lnTo>
                    <a:pt x="708281" y="0"/>
                  </a:lnTo>
                  <a:cubicBezTo>
                    <a:pt x="724033" y="0"/>
                    <a:pt x="739141" y="6258"/>
                    <a:pt x="750280" y="17397"/>
                  </a:cubicBezTo>
                  <a:cubicBezTo>
                    <a:pt x="761419" y="28536"/>
                    <a:pt x="767676" y="43643"/>
                    <a:pt x="767676" y="59396"/>
                  </a:cubicBezTo>
                  <a:lnTo>
                    <a:pt x="767676" y="123232"/>
                  </a:lnTo>
                  <a:cubicBezTo>
                    <a:pt x="767676" y="138985"/>
                    <a:pt x="761419" y="154092"/>
                    <a:pt x="750280" y="165231"/>
                  </a:cubicBezTo>
                  <a:cubicBezTo>
                    <a:pt x="739141" y="176370"/>
                    <a:pt x="724033" y="182628"/>
                    <a:pt x="708281" y="182628"/>
                  </a:cubicBezTo>
                  <a:lnTo>
                    <a:pt x="59396" y="182628"/>
                  </a:lnTo>
                  <a:cubicBezTo>
                    <a:pt x="43643" y="182628"/>
                    <a:pt x="28536" y="176370"/>
                    <a:pt x="17397" y="165231"/>
                  </a:cubicBezTo>
                  <a:cubicBezTo>
                    <a:pt x="6258" y="154092"/>
                    <a:pt x="0" y="138985"/>
                    <a:pt x="0" y="123232"/>
                  </a:cubicBezTo>
                  <a:lnTo>
                    <a:pt x="0" y="59396"/>
                  </a:lnTo>
                  <a:cubicBezTo>
                    <a:pt x="0" y="43643"/>
                    <a:pt x="6258" y="28536"/>
                    <a:pt x="17397" y="17397"/>
                  </a:cubicBezTo>
                  <a:cubicBezTo>
                    <a:pt x="28536" y="6258"/>
                    <a:pt x="43643" y="0"/>
                    <a:pt x="59396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767676" cy="249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82134" y="0"/>
            <a:ext cx="2871804" cy="709475"/>
            <a:chOff x="0" y="0"/>
            <a:chExt cx="767676" cy="1896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63322" y="0"/>
            <a:ext cx="2871804" cy="709475"/>
            <a:chOff x="0" y="0"/>
            <a:chExt cx="767676" cy="1896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3097156" y="-47344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544511" y="0"/>
            <a:ext cx="2871804" cy="709475"/>
            <a:chOff x="0" y="0"/>
            <a:chExt cx="767676" cy="1896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416196" y="0"/>
            <a:ext cx="2871804" cy="709475"/>
            <a:chOff x="0" y="0"/>
            <a:chExt cx="767676" cy="1896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0" y="0"/>
            <a:ext cx="2871804" cy="720993"/>
            <a:chOff x="0" y="0"/>
            <a:chExt cx="3829072" cy="961324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3829072" cy="961324"/>
              <a:chOff x="0" y="0"/>
              <a:chExt cx="767676" cy="19273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67676" cy="192732"/>
              </a:xfrm>
              <a:custGeom>
                <a:avLst/>
                <a:gdLst/>
                <a:ahLst/>
                <a:cxnLst/>
                <a:rect r="r" b="b" t="t" l="l"/>
                <a:pathLst>
                  <a:path h="192732" w="767676">
                    <a:moveTo>
                      <a:pt x="80875" y="0"/>
                    </a:moveTo>
                    <a:lnTo>
                      <a:pt x="686801" y="0"/>
                    </a:lnTo>
                    <a:cubicBezTo>
                      <a:pt x="708251" y="0"/>
                      <a:pt x="728822" y="8521"/>
                      <a:pt x="743989" y="23688"/>
                    </a:cubicBezTo>
                    <a:cubicBezTo>
                      <a:pt x="759156" y="38855"/>
                      <a:pt x="767676" y="59426"/>
                      <a:pt x="767676" y="80875"/>
                    </a:cubicBezTo>
                    <a:lnTo>
                      <a:pt x="767676" y="111857"/>
                    </a:lnTo>
                    <a:cubicBezTo>
                      <a:pt x="767676" y="133307"/>
                      <a:pt x="759156" y="153877"/>
                      <a:pt x="743989" y="169044"/>
                    </a:cubicBezTo>
                    <a:cubicBezTo>
                      <a:pt x="728822" y="184212"/>
                      <a:pt x="708251" y="192732"/>
                      <a:pt x="686801" y="192732"/>
                    </a:cubicBezTo>
                    <a:lnTo>
                      <a:pt x="80875" y="192732"/>
                    </a:lnTo>
                    <a:cubicBezTo>
                      <a:pt x="59426" y="192732"/>
                      <a:pt x="38855" y="184212"/>
                      <a:pt x="23688" y="169044"/>
                    </a:cubicBezTo>
                    <a:cubicBezTo>
                      <a:pt x="8521" y="153877"/>
                      <a:pt x="0" y="133307"/>
                      <a:pt x="0" y="111857"/>
                    </a:cubicBezTo>
                    <a:lnTo>
                      <a:pt x="0" y="80875"/>
                    </a:lnTo>
                    <a:cubicBezTo>
                      <a:pt x="0" y="59426"/>
                      <a:pt x="8521" y="38855"/>
                      <a:pt x="23688" y="23688"/>
                    </a:cubicBezTo>
                    <a:cubicBezTo>
                      <a:pt x="38855" y="8521"/>
                      <a:pt x="59426" y="0"/>
                      <a:pt x="80875" y="0"/>
                    </a:cubicBezTo>
                    <a:close/>
                  </a:path>
                </a:pathLst>
              </a:custGeom>
              <a:solidFill>
                <a:srgbClr val="78AF95">
                  <a:alpha val="88627"/>
                </a:srgbClr>
              </a:solidFill>
              <a:ln w="38100" cap="rnd">
                <a:solidFill>
                  <a:srgbClr val="000000">
                    <a:alpha val="88627"/>
                  </a:srgbClr>
                </a:solidFill>
                <a:prstDash val="solid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66675"/>
                <a:ext cx="767676" cy="2594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76237" y="105788"/>
              <a:ext cx="3076598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1341C">
                      <a:alpha val="88627"/>
                    </a:srgbClr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Introduction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256025" y="72561"/>
            <a:ext cx="3141887" cy="784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8"/>
              </a:lnSpc>
              <a:spcBef>
                <a:spcPct val="0"/>
              </a:spcBef>
            </a:pPr>
            <a:r>
              <a:rPr lang="en-US" sz="4084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Background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71159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Conclusion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6431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Methods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41788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Results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30402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Discussion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340548" y="1461359"/>
            <a:ext cx="7606903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Spike Times ⟶ Firing Rates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2595422" y="2724817"/>
            <a:ext cx="13174433" cy="6745309"/>
            <a:chOff x="0" y="0"/>
            <a:chExt cx="15240000" cy="7802880"/>
          </a:xfrm>
        </p:grpSpPr>
        <p:sp>
          <p:nvSpPr>
            <p:cNvPr name="Freeform 31" id="31" descr="raster_psth.png"/>
            <p:cNvSpPr/>
            <p:nvPr/>
          </p:nvSpPr>
          <p:spPr>
            <a:xfrm flipH="false" flipV="false" rot="0">
              <a:off x="0" y="0"/>
              <a:ext cx="15240000" cy="7802880"/>
            </a:xfrm>
            <a:custGeom>
              <a:avLst/>
              <a:gdLst/>
              <a:ahLst/>
              <a:cxnLst/>
              <a:rect r="r" b="b" t="t" l="l"/>
              <a:pathLst>
                <a:path h="780288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7802880"/>
                  </a:lnTo>
                  <a:lnTo>
                    <a:pt x="0" y="7802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51" r="0" b="-451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0" y="0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71804" y="0"/>
            <a:ext cx="3910329" cy="930254"/>
            <a:chOff x="0" y="0"/>
            <a:chExt cx="767676" cy="1826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7676" cy="182628"/>
            </a:xfrm>
            <a:custGeom>
              <a:avLst/>
              <a:gdLst/>
              <a:ahLst/>
              <a:cxnLst/>
              <a:rect r="r" b="b" t="t" l="l"/>
              <a:pathLst>
                <a:path h="182628" w="767676">
                  <a:moveTo>
                    <a:pt x="59396" y="0"/>
                  </a:moveTo>
                  <a:lnTo>
                    <a:pt x="708281" y="0"/>
                  </a:lnTo>
                  <a:cubicBezTo>
                    <a:pt x="724033" y="0"/>
                    <a:pt x="739141" y="6258"/>
                    <a:pt x="750280" y="17397"/>
                  </a:cubicBezTo>
                  <a:cubicBezTo>
                    <a:pt x="761419" y="28536"/>
                    <a:pt x="767676" y="43643"/>
                    <a:pt x="767676" y="59396"/>
                  </a:cubicBezTo>
                  <a:lnTo>
                    <a:pt x="767676" y="123232"/>
                  </a:lnTo>
                  <a:cubicBezTo>
                    <a:pt x="767676" y="138985"/>
                    <a:pt x="761419" y="154092"/>
                    <a:pt x="750280" y="165231"/>
                  </a:cubicBezTo>
                  <a:cubicBezTo>
                    <a:pt x="739141" y="176370"/>
                    <a:pt x="724033" y="182628"/>
                    <a:pt x="708281" y="182628"/>
                  </a:cubicBezTo>
                  <a:lnTo>
                    <a:pt x="59396" y="182628"/>
                  </a:lnTo>
                  <a:cubicBezTo>
                    <a:pt x="43643" y="182628"/>
                    <a:pt x="28536" y="176370"/>
                    <a:pt x="17397" y="165231"/>
                  </a:cubicBezTo>
                  <a:cubicBezTo>
                    <a:pt x="6258" y="154092"/>
                    <a:pt x="0" y="138985"/>
                    <a:pt x="0" y="123232"/>
                  </a:cubicBezTo>
                  <a:lnTo>
                    <a:pt x="0" y="59396"/>
                  </a:lnTo>
                  <a:cubicBezTo>
                    <a:pt x="0" y="43643"/>
                    <a:pt x="6258" y="28536"/>
                    <a:pt x="17397" y="17397"/>
                  </a:cubicBezTo>
                  <a:cubicBezTo>
                    <a:pt x="28536" y="6258"/>
                    <a:pt x="43643" y="0"/>
                    <a:pt x="59396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767676" cy="249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82134" y="0"/>
            <a:ext cx="2871804" cy="709475"/>
            <a:chOff x="0" y="0"/>
            <a:chExt cx="767676" cy="1896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63322" y="0"/>
            <a:ext cx="2871804" cy="709475"/>
            <a:chOff x="0" y="0"/>
            <a:chExt cx="767676" cy="1896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3097156" y="-47344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544511" y="0"/>
            <a:ext cx="2871804" cy="709475"/>
            <a:chOff x="0" y="0"/>
            <a:chExt cx="767676" cy="1896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416196" y="0"/>
            <a:ext cx="2871804" cy="709475"/>
            <a:chOff x="0" y="0"/>
            <a:chExt cx="767676" cy="1896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0" y="0"/>
            <a:ext cx="2871804" cy="720993"/>
            <a:chOff x="0" y="0"/>
            <a:chExt cx="3829072" cy="961324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3829072" cy="961324"/>
              <a:chOff x="0" y="0"/>
              <a:chExt cx="767676" cy="19273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67676" cy="192732"/>
              </a:xfrm>
              <a:custGeom>
                <a:avLst/>
                <a:gdLst/>
                <a:ahLst/>
                <a:cxnLst/>
                <a:rect r="r" b="b" t="t" l="l"/>
                <a:pathLst>
                  <a:path h="192732" w="767676">
                    <a:moveTo>
                      <a:pt x="80875" y="0"/>
                    </a:moveTo>
                    <a:lnTo>
                      <a:pt x="686801" y="0"/>
                    </a:lnTo>
                    <a:cubicBezTo>
                      <a:pt x="708251" y="0"/>
                      <a:pt x="728822" y="8521"/>
                      <a:pt x="743989" y="23688"/>
                    </a:cubicBezTo>
                    <a:cubicBezTo>
                      <a:pt x="759156" y="38855"/>
                      <a:pt x="767676" y="59426"/>
                      <a:pt x="767676" y="80875"/>
                    </a:cubicBezTo>
                    <a:lnTo>
                      <a:pt x="767676" y="111857"/>
                    </a:lnTo>
                    <a:cubicBezTo>
                      <a:pt x="767676" y="133307"/>
                      <a:pt x="759156" y="153877"/>
                      <a:pt x="743989" y="169044"/>
                    </a:cubicBezTo>
                    <a:cubicBezTo>
                      <a:pt x="728822" y="184212"/>
                      <a:pt x="708251" y="192732"/>
                      <a:pt x="686801" y="192732"/>
                    </a:cubicBezTo>
                    <a:lnTo>
                      <a:pt x="80875" y="192732"/>
                    </a:lnTo>
                    <a:cubicBezTo>
                      <a:pt x="59426" y="192732"/>
                      <a:pt x="38855" y="184212"/>
                      <a:pt x="23688" y="169044"/>
                    </a:cubicBezTo>
                    <a:cubicBezTo>
                      <a:pt x="8521" y="153877"/>
                      <a:pt x="0" y="133307"/>
                      <a:pt x="0" y="111857"/>
                    </a:cubicBezTo>
                    <a:lnTo>
                      <a:pt x="0" y="80875"/>
                    </a:lnTo>
                    <a:cubicBezTo>
                      <a:pt x="0" y="59426"/>
                      <a:pt x="8521" y="38855"/>
                      <a:pt x="23688" y="23688"/>
                    </a:cubicBezTo>
                    <a:cubicBezTo>
                      <a:pt x="38855" y="8521"/>
                      <a:pt x="59426" y="0"/>
                      <a:pt x="80875" y="0"/>
                    </a:cubicBezTo>
                    <a:close/>
                  </a:path>
                </a:pathLst>
              </a:custGeom>
              <a:solidFill>
                <a:srgbClr val="78AF95">
                  <a:alpha val="88627"/>
                </a:srgbClr>
              </a:solidFill>
              <a:ln w="38100" cap="rnd">
                <a:solidFill>
                  <a:srgbClr val="000000">
                    <a:alpha val="88627"/>
                  </a:srgbClr>
                </a:solidFill>
                <a:prstDash val="solid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66675"/>
                <a:ext cx="767676" cy="2594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76237" y="105788"/>
              <a:ext cx="3076598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1341C">
                      <a:alpha val="88627"/>
                    </a:srgbClr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Introduction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256025" y="72561"/>
            <a:ext cx="3141887" cy="784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8"/>
              </a:lnSpc>
              <a:spcBef>
                <a:spcPct val="0"/>
              </a:spcBef>
            </a:pPr>
            <a:r>
              <a:rPr lang="en-US" sz="4084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Background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71159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Conclusion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6431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Methods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41788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Results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30402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Discussion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744492" y="1461359"/>
            <a:ext cx="8799016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Analyzing Population Responses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6460" y="3588842"/>
            <a:ext cx="16230600" cy="2146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2"/>
              </a:lnSpc>
            </a:pPr>
            <a:r>
              <a:rPr lang="en-US" sz="4514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Encoding</a:t>
            </a:r>
          </a:p>
          <a:p>
            <a:pPr algn="l">
              <a:lnSpc>
                <a:spcPts val="5462"/>
              </a:lnSpc>
            </a:pPr>
          </a:p>
          <a:p>
            <a:pPr algn="l">
              <a:lnSpc>
                <a:spcPts val="5462"/>
              </a:lnSpc>
            </a:pPr>
            <a:r>
              <a:rPr lang="en-US" sz="4514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Decoding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0" y="0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71804" y="0"/>
            <a:ext cx="3910329" cy="930254"/>
            <a:chOff x="0" y="0"/>
            <a:chExt cx="767676" cy="1826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7676" cy="182628"/>
            </a:xfrm>
            <a:custGeom>
              <a:avLst/>
              <a:gdLst/>
              <a:ahLst/>
              <a:cxnLst/>
              <a:rect r="r" b="b" t="t" l="l"/>
              <a:pathLst>
                <a:path h="182628" w="767676">
                  <a:moveTo>
                    <a:pt x="59396" y="0"/>
                  </a:moveTo>
                  <a:lnTo>
                    <a:pt x="708281" y="0"/>
                  </a:lnTo>
                  <a:cubicBezTo>
                    <a:pt x="724033" y="0"/>
                    <a:pt x="739141" y="6258"/>
                    <a:pt x="750280" y="17397"/>
                  </a:cubicBezTo>
                  <a:cubicBezTo>
                    <a:pt x="761419" y="28536"/>
                    <a:pt x="767676" y="43643"/>
                    <a:pt x="767676" y="59396"/>
                  </a:cubicBezTo>
                  <a:lnTo>
                    <a:pt x="767676" y="123232"/>
                  </a:lnTo>
                  <a:cubicBezTo>
                    <a:pt x="767676" y="138985"/>
                    <a:pt x="761419" y="154092"/>
                    <a:pt x="750280" y="165231"/>
                  </a:cubicBezTo>
                  <a:cubicBezTo>
                    <a:pt x="739141" y="176370"/>
                    <a:pt x="724033" y="182628"/>
                    <a:pt x="708281" y="182628"/>
                  </a:cubicBezTo>
                  <a:lnTo>
                    <a:pt x="59396" y="182628"/>
                  </a:lnTo>
                  <a:cubicBezTo>
                    <a:pt x="43643" y="182628"/>
                    <a:pt x="28536" y="176370"/>
                    <a:pt x="17397" y="165231"/>
                  </a:cubicBezTo>
                  <a:cubicBezTo>
                    <a:pt x="6258" y="154092"/>
                    <a:pt x="0" y="138985"/>
                    <a:pt x="0" y="123232"/>
                  </a:cubicBezTo>
                  <a:lnTo>
                    <a:pt x="0" y="59396"/>
                  </a:lnTo>
                  <a:cubicBezTo>
                    <a:pt x="0" y="43643"/>
                    <a:pt x="6258" y="28536"/>
                    <a:pt x="17397" y="17397"/>
                  </a:cubicBezTo>
                  <a:cubicBezTo>
                    <a:pt x="28536" y="6258"/>
                    <a:pt x="43643" y="0"/>
                    <a:pt x="59396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767676" cy="249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82134" y="0"/>
            <a:ext cx="2871804" cy="709475"/>
            <a:chOff x="0" y="0"/>
            <a:chExt cx="767676" cy="1896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63322" y="0"/>
            <a:ext cx="2871804" cy="709475"/>
            <a:chOff x="0" y="0"/>
            <a:chExt cx="767676" cy="1896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3097156" y="-47344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544511" y="0"/>
            <a:ext cx="2871804" cy="709475"/>
            <a:chOff x="0" y="0"/>
            <a:chExt cx="767676" cy="1896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416196" y="0"/>
            <a:ext cx="2871804" cy="709475"/>
            <a:chOff x="0" y="0"/>
            <a:chExt cx="767676" cy="1896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0" y="0"/>
            <a:ext cx="2871804" cy="720993"/>
            <a:chOff x="0" y="0"/>
            <a:chExt cx="3829072" cy="961324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3829072" cy="961324"/>
              <a:chOff x="0" y="0"/>
              <a:chExt cx="767676" cy="19273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67676" cy="192732"/>
              </a:xfrm>
              <a:custGeom>
                <a:avLst/>
                <a:gdLst/>
                <a:ahLst/>
                <a:cxnLst/>
                <a:rect r="r" b="b" t="t" l="l"/>
                <a:pathLst>
                  <a:path h="192732" w="767676">
                    <a:moveTo>
                      <a:pt x="80875" y="0"/>
                    </a:moveTo>
                    <a:lnTo>
                      <a:pt x="686801" y="0"/>
                    </a:lnTo>
                    <a:cubicBezTo>
                      <a:pt x="708251" y="0"/>
                      <a:pt x="728822" y="8521"/>
                      <a:pt x="743989" y="23688"/>
                    </a:cubicBezTo>
                    <a:cubicBezTo>
                      <a:pt x="759156" y="38855"/>
                      <a:pt x="767676" y="59426"/>
                      <a:pt x="767676" y="80875"/>
                    </a:cubicBezTo>
                    <a:lnTo>
                      <a:pt x="767676" y="111857"/>
                    </a:lnTo>
                    <a:cubicBezTo>
                      <a:pt x="767676" y="133307"/>
                      <a:pt x="759156" y="153877"/>
                      <a:pt x="743989" y="169044"/>
                    </a:cubicBezTo>
                    <a:cubicBezTo>
                      <a:pt x="728822" y="184212"/>
                      <a:pt x="708251" y="192732"/>
                      <a:pt x="686801" y="192732"/>
                    </a:cubicBezTo>
                    <a:lnTo>
                      <a:pt x="80875" y="192732"/>
                    </a:lnTo>
                    <a:cubicBezTo>
                      <a:pt x="59426" y="192732"/>
                      <a:pt x="38855" y="184212"/>
                      <a:pt x="23688" y="169044"/>
                    </a:cubicBezTo>
                    <a:cubicBezTo>
                      <a:pt x="8521" y="153877"/>
                      <a:pt x="0" y="133307"/>
                      <a:pt x="0" y="111857"/>
                    </a:cubicBezTo>
                    <a:lnTo>
                      <a:pt x="0" y="80875"/>
                    </a:lnTo>
                    <a:cubicBezTo>
                      <a:pt x="0" y="59426"/>
                      <a:pt x="8521" y="38855"/>
                      <a:pt x="23688" y="23688"/>
                    </a:cubicBezTo>
                    <a:cubicBezTo>
                      <a:pt x="38855" y="8521"/>
                      <a:pt x="59426" y="0"/>
                      <a:pt x="80875" y="0"/>
                    </a:cubicBezTo>
                    <a:close/>
                  </a:path>
                </a:pathLst>
              </a:custGeom>
              <a:solidFill>
                <a:srgbClr val="78AF95">
                  <a:alpha val="88627"/>
                </a:srgbClr>
              </a:solidFill>
              <a:ln w="38100" cap="rnd">
                <a:solidFill>
                  <a:srgbClr val="000000">
                    <a:alpha val="88627"/>
                  </a:srgbClr>
                </a:solidFill>
                <a:prstDash val="solid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66675"/>
                <a:ext cx="767676" cy="2594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76237" y="105788"/>
              <a:ext cx="3076598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1341C">
                      <a:alpha val="88627"/>
                    </a:srgbClr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Introduction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256025" y="72561"/>
            <a:ext cx="3141887" cy="784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8"/>
              </a:lnSpc>
              <a:spcBef>
                <a:spcPct val="0"/>
              </a:spcBef>
            </a:pPr>
            <a:r>
              <a:rPr lang="en-US" sz="4084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Background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71159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Conclusion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6431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Methods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41788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Results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30402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Discussion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552456" y="1461359"/>
            <a:ext cx="5183088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Previous Literature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6460" y="3588842"/>
            <a:ext cx="16230600" cy="2832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2"/>
              </a:lnSpc>
            </a:pPr>
            <a:r>
              <a:rPr lang="en-US" sz="4514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Three competing frameworks</a:t>
            </a:r>
          </a:p>
          <a:p>
            <a:pPr algn="l" marL="974716" indent="-487358" lvl="1">
              <a:lnSpc>
                <a:spcPts val="5462"/>
              </a:lnSpc>
              <a:buFont typeface="Arial"/>
              <a:buChar char="•"/>
            </a:pPr>
            <a:r>
              <a:rPr lang="en-US" sz="4514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Parallel processing model (2000)</a:t>
            </a:r>
          </a:p>
          <a:p>
            <a:pPr algn="l" marL="974716" indent="-487358" lvl="1">
              <a:lnSpc>
                <a:spcPts val="5462"/>
              </a:lnSpc>
              <a:buFont typeface="Arial"/>
              <a:buChar char="•"/>
            </a:pPr>
            <a:r>
              <a:rPr lang="en-US" sz="4514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Distributed processing model (2001)</a:t>
            </a:r>
          </a:p>
          <a:p>
            <a:pPr algn="l" marL="974716" indent="-487358" lvl="1">
              <a:lnSpc>
                <a:spcPts val="5462"/>
              </a:lnSpc>
              <a:buFont typeface="Arial"/>
              <a:buChar char="•"/>
            </a:pPr>
            <a:r>
              <a:rPr lang="en-US" sz="4514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Hierarchical processing model (2014)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0" y="0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71804" y="0"/>
            <a:ext cx="3910329" cy="930254"/>
            <a:chOff x="0" y="0"/>
            <a:chExt cx="767676" cy="1826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7676" cy="182628"/>
            </a:xfrm>
            <a:custGeom>
              <a:avLst/>
              <a:gdLst/>
              <a:ahLst/>
              <a:cxnLst/>
              <a:rect r="r" b="b" t="t" l="l"/>
              <a:pathLst>
                <a:path h="182628" w="767676">
                  <a:moveTo>
                    <a:pt x="59396" y="0"/>
                  </a:moveTo>
                  <a:lnTo>
                    <a:pt x="708281" y="0"/>
                  </a:lnTo>
                  <a:cubicBezTo>
                    <a:pt x="724033" y="0"/>
                    <a:pt x="739141" y="6258"/>
                    <a:pt x="750280" y="17397"/>
                  </a:cubicBezTo>
                  <a:cubicBezTo>
                    <a:pt x="761419" y="28536"/>
                    <a:pt x="767676" y="43643"/>
                    <a:pt x="767676" y="59396"/>
                  </a:cubicBezTo>
                  <a:lnTo>
                    <a:pt x="767676" y="123232"/>
                  </a:lnTo>
                  <a:cubicBezTo>
                    <a:pt x="767676" y="138985"/>
                    <a:pt x="761419" y="154092"/>
                    <a:pt x="750280" y="165231"/>
                  </a:cubicBezTo>
                  <a:cubicBezTo>
                    <a:pt x="739141" y="176370"/>
                    <a:pt x="724033" y="182628"/>
                    <a:pt x="708281" y="182628"/>
                  </a:cubicBezTo>
                  <a:lnTo>
                    <a:pt x="59396" y="182628"/>
                  </a:lnTo>
                  <a:cubicBezTo>
                    <a:pt x="43643" y="182628"/>
                    <a:pt x="28536" y="176370"/>
                    <a:pt x="17397" y="165231"/>
                  </a:cubicBezTo>
                  <a:cubicBezTo>
                    <a:pt x="6258" y="154092"/>
                    <a:pt x="0" y="138985"/>
                    <a:pt x="0" y="123232"/>
                  </a:cubicBezTo>
                  <a:lnTo>
                    <a:pt x="0" y="59396"/>
                  </a:lnTo>
                  <a:cubicBezTo>
                    <a:pt x="0" y="43643"/>
                    <a:pt x="6258" y="28536"/>
                    <a:pt x="17397" y="17397"/>
                  </a:cubicBezTo>
                  <a:cubicBezTo>
                    <a:pt x="28536" y="6258"/>
                    <a:pt x="43643" y="0"/>
                    <a:pt x="59396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767676" cy="249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82134" y="0"/>
            <a:ext cx="2871804" cy="709475"/>
            <a:chOff x="0" y="0"/>
            <a:chExt cx="767676" cy="1896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63322" y="0"/>
            <a:ext cx="2871804" cy="709475"/>
            <a:chOff x="0" y="0"/>
            <a:chExt cx="767676" cy="1896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3097156" y="-47344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544511" y="0"/>
            <a:ext cx="2871804" cy="709475"/>
            <a:chOff x="0" y="0"/>
            <a:chExt cx="767676" cy="1896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416196" y="0"/>
            <a:ext cx="2871804" cy="709475"/>
            <a:chOff x="0" y="0"/>
            <a:chExt cx="767676" cy="1896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0" y="0"/>
            <a:ext cx="2871804" cy="720993"/>
            <a:chOff x="0" y="0"/>
            <a:chExt cx="3829072" cy="961324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3829072" cy="961324"/>
              <a:chOff x="0" y="0"/>
              <a:chExt cx="767676" cy="19273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67676" cy="192732"/>
              </a:xfrm>
              <a:custGeom>
                <a:avLst/>
                <a:gdLst/>
                <a:ahLst/>
                <a:cxnLst/>
                <a:rect r="r" b="b" t="t" l="l"/>
                <a:pathLst>
                  <a:path h="192732" w="767676">
                    <a:moveTo>
                      <a:pt x="80875" y="0"/>
                    </a:moveTo>
                    <a:lnTo>
                      <a:pt x="686801" y="0"/>
                    </a:lnTo>
                    <a:cubicBezTo>
                      <a:pt x="708251" y="0"/>
                      <a:pt x="728822" y="8521"/>
                      <a:pt x="743989" y="23688"/>
                    </a:cubicBezTo>
                    <a:cubicBezTo>
                      <a:pt x="759156" y="38855"/>
                      <a:pt x="767676" y="59426"/>
                      <a:pt x="767676" y="80875"/>
                    </a:cubicBezTo>
                    <a:lnTo>
                      <a:pt x="767676" y="111857"/>
                    </a:lnTo>
                    <a:cubicBezTo>
                      <a:pt x="767676" y="133307"/>
                      <a:pt x="759156" y="153877"/>
                      <a:pt x="743989" y="169044"/>
                    </a:cubicBezTo>
                    <a:cubicBezTo>
                      <a:pt x="728822" y="184212"/>
                      <a:pt x="708251" y="192732"/>
                      <a:pt x="686801" y="192732"/>
                    </a:cubicBezTo>
                    <a:lnTo>
                      <a:pt x="80875" y="192732"/>
                    </a:lnTo>
                    <a:cubicBezTo>
                      <a:pt x="59426" y="192732"/>
                      <a:pt x="38855" y="184212"/>
                      <a:pt x="23688" y="169044"/>
                    </a:cubicBezTo>
                    <a:cubicBezTo>
                      <a:pt x="8521" y="153877"/>
                      <a:pt x="0" y="133307"/>
                      <a:pt x="0" y="111857"/>
                    </a:cubicBezTo>
                    <a:lnTo>
                      <a:pt x="0" y="80875"/>
                    </a:lnTo>
                    <a:cubicBezTo>
                      <a:pt x="0" y="59426"/>
                      <a:pt x="8521" y="38855"/>
                      <a:pt x="23688" y="23688"/>
                    </a:cubicBezTo>
                    <a:cubicBezTo>
                      <a:pt x="38855" y="8521"/>
                      <a:pt x="59426" y="0"/>
                      <a:pt x="80875" y="0"/>
                    </a:cubicBezTo>
                    <a:close/>
                  </a:path>
                </a:pathLst>
              </a:custGeom>
              <a:solidFill>
                <a:srgbClr val="78AF95">
                  <a:alpha val="88627"/>
                </a:srgbClr>
              </a:solidFill>
              <a:ln w="38100" cap="rnd">
                <a:solidFill>
                  <a:srgbClr val="000000">
                    <a:alpha val="88627"/>
                  </a:srgbClr>
                </a:solidFill>
                <a:prstDash val="solid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66675"/>
                <a:ext cx="767676" cy="2594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76237" y="105788"/>
              <a:ext cx="3076598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1341C">
                      <a:alpha val="88627"/>
                    </a:srgbClr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Introduction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256025" y="72561"/>
            <a:ext cx="3141887" cy="784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8"/>
              </a:lnSpc>
              <a:spcBef>
                <a:spcPct val="0"/>
              </a:spcBef>
            </a:pPr>
            <a:r>
              <a:rPr lang="en-US" sz="4084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Background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71159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Conclusion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6431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Methods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41788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Results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30402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Discussion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710264" y="1461359"/>
            <a:ext cx="2867471" cy="95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Firing rate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56460" y="3588842"/>
            <a:ext cx="16230600" cy="77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2"/>
              </a:lnSpc>
            </a:pPr>
            <a:r>
              <a:rPr lang="en-US" sz="4514">
                <a:solidFill>
                  <a:srgbClr val="01341C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Firing rate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0" y="0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871804" y="0"/>
            <a:ext cx="3910329" cy="930254"/>
            <a:chOff x="0" y="0"/>
            <a:chExt cx="767676" cy="1826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67676" cy="182628"/>
            </a:xfrm>
            <a:custGeom>
              <a:avLst/>
              <a:gdLst/>
              <a:ahLst/>
              <a:cxnLst/>
              <a:rect r="r" b="b" t="t" l="l"/>
              <a:pathLst>
                <a:path h="182628" w="767676">
                  <a:moveTo>
                    <a:pt x="59396" y="0"/>
                  </a:moveTo>
                  <a:lnTo>
                    <a:pt x="708281" y="0"/>
                  </a:lnTo>
                  <a:cubicBezTo>
                    <a:pt x="724033" y="0"/>
                    <a:pt x="739141" y="6258"/>
                    <a:pt x="750280" y="17397"/>
                  </a:cubicBezTo>
                  <a:cubicBezTo>
                    <a:pt x="761419" y="28536"/>
                    <a:pt x="767676" y="43643"/>
                    <a:pt x="767676" y="59396"/>
                  </a:cubicBezTo>
                  <a:lnTo>
                    <a:pt x="767676" y="123232"/>
                  </a:lnTo>
                  <a:cubicBezTo>
                    <a:pt x="767676" y="138985"/>
                    <a:pt x="761419" y="154092"/>
                    <a:pt x="750280" y="165231"/>
                  </a:cubicBezTo>
                  <a:cubicBezTo>
                    <a:pt x="739141" y="176370"/>
                    <a:pt x="724033" y="182628"/>
                    <a:pt x="708281" y="182628"/>
                  </a:cubicBezTo>
                  <a:lnTo>
                    <a:pt x="59396" y="182628"/>
                  </a:lnTo>
                  <a:cubicBezTo>
                    <a:pt x="43643" y="182628"/>
                    <a:pt x="28536" y="176370"/>
                    <a:pt x="17397" y="165231"/>
                  </a:cubicBezTo>
                  <a:cubicBezTo>
                    <a:pt x="6258" y="154092"/>
                    <a:pt x="0" y="138985"/>
                    <a:pt x="0" y="123232"/>
                  </a:cubicBezTo>
                  <a:lnTo>
                    <a:pt x="0" y="59396"/>
                  </a:lnTo>
                  <a:cubicBezTo>
                    <a:pt x="0" y="43643"/>
                    <a:pt x="6258" y="28536"/>
                    <a:pt x="17397" y="17397"/>
                  </a:cubicBezTo>
                  <a:cubicBezTo>
                    <a:pt x="28536" y="6258"/>
                    <a:pt x="43643" y="0"/>
                    <a:pt x="59396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767676" cy="2493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782134" y="0"/>
            <a:ext cx="2871804" cy="709475"/>
            <a:chOff x="0" y="0"/>
            <a:chExt cx="767676" cy="1896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63322" y="0"/>
            <a:ext cx="2871804" cy="709475"/>
            <a:chOff x="0" y="0"/>
            <a:chExt cx="767676" cy="1896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10800000">
            <a:off x="13097156" y="-47344"/>
            <a:ext cx="5190844" cy="5190844"/>
          </a:xfrm>
          <a:custGeom>
            <a:avLst/>
            <a:gdLst/>
            <a:ahLst/>
            <a:cxnLst/>
            <a:rect r="r" b="b" t="t" l="l"/>
            <a:pathLst>
              <a:path h="5190844" w="5190844">
                <a:moveTo>
                  <a:pt x="0" y="0"/>
                </a:moveTo>
                <a:lnTo>
                  <a:pt x="5190844" y="0"/>
                </a:lnTo>
                <a:lnTo>
                  <a:pt x="5190844" y="5190844"/>
                </a:lnTo>
                <a:lnTo>
                  <a:pt x="0" y="51908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544511" y="0"/>
            <a:ext cx="2871804" cy="709475"/>
            <a:chOff x="0" y="0"/>
            <a:chExt cx="767676" cy="1896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416196" y="0"/>
            <a:ext cx="2871804" cy="709475"/>
            <a:chOff x="0" y="0"/>
            <a:chExt cx="767676" cy="1896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7676" cy="189653"/>
            </a:xfrm>
            <a:custGeom>
              <a:avLst/>
              <a:gdLst/>
              <a:ahLst/>
              <a:cxnLst/>
              <a:rect r="r" b="b" t="t" l="l"/>
              <a:pathLst>
                <a:path h="189653" w="767676">
                  <a:moveTo>
                    <a:pt x="80875" y="0"/>
                  </a:moveTo>
                  <a:lnTo>
                    <a:pt x="686801" y="0"/>
                  </a:lnTo>
                  <a:cubicBezTo>
                    <a:pt x="708251" y="0"/>
                    <a:pt x="728822" y="8521"/>
                    <a:pt x="743989" y="23688"/>
                  </a:cubicBezTo>
                  <a:cubicBezTo>
                    <a:pt x="759156" y="38855"/>
                    <a:pt x="767676" y="59426"/>
                    <a:pt x="767676" y="80875"/>
                  </a:cubicBezTo>
                  <a:lnTo>
                    <a:pt x="767676" y="108778"/>
                  </a:lnTo>
                  <a:cubicBezTo>
                    <a:pt x="767676" y="153444"/>
                    <a:pt x="731467" y="189653"/>
                    <a:pt x="686801" y="189653"/>
                  </a:cubicBezTo>
                  <a:lnTo>
                    <a:pt x="80875" y="189653"/>
                  </a:lnTo>
                  <a:cubicBezTo>
                    <a:pt x="59426" y="189653"/>
                    <a:pt x="38855" y="181133"/>
                    <a:pt x="23688" y="165965"/>
                  </a:cubicBezTo>
                  <a:cubicBezTo>
                    <a:pt x="8521" y="150798"/>
                    <a:pt x="0" y="130228"/>
                    <a:pt x="0" y="108778"/>
                  </a:cubicBezTo>
                  <a:lnTo>
                    <a:pt x="0" y="80875"/>
                  </a:lnTo>
                  <a:cubicBezTo>
                    <a:pt x="0" y="59426"/>
                    <a:pt x="8521" y="38855"/>
                    <a:pt x="23688" y="23688"/>
                  </a:cubicBezTo>
                  <a:cubicBezTo>
                    <a:pt x="38855" y="8521"/>
                    <a:pt x="59426" y="0"/>
                    <a:pt x="80875" y="0"/>
                  </a:cubicBezTo>
                  <a:close/>
                </a:path>
              </a:pathLst>
            </a:custGeom>
            <a:solidFill>
              <a:srgbClr val="78AF95">
                <a:alpha val="88627"/>
              </a:srgbClr>
            </a:solidFill>
            <a:ln w="38100" cap="rnd">
              <a:solidFill>
                <a:srgbClr val="000000">
                  <a:alpha val="88627"/>
                </a:srgbClr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767676" cy="256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0" y="0"/>
            <a:ext cx="2871804" cy="720993"/>
            <a:chOff x="0" y="0"/>
            <a:chExt cx="3829072" cy="961324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3829072" cy="961324"/>
              <a:chOff x="0" y="0"/>
              <a:chExt cx="767676" cy="19273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67676" cy="192732"/>
              </a:xfrm>
              <a:custGeom>
                <a:avLst/>
                <a:gdLst/>
                <a:ahLst/>
                <a:cxnLst/>
                <a:rect r="r" b="b" t="t" l="l"/>
                <a:pathLst>
                  <a:path h="192732" w="767676">
                    <a:moveTo>
                      <a:pt x="80875" y="0"/>
                    </a:moveTo>
                    <a:lnTo>
                      <a:pt x="686801" y="0"/>
                    </a:lnTo>
                    <a:cubicBezTo>
                      <a:pt x="708251" y="0"/>
                      <a:pt x="728822" y="8521"/>
                      <a:pt x="743989" y="23688"/>
                    </a:cubicBezTo>
                    <a:cubicBezTo>
                      <a:pt x="759156" y="38855"/>
                      <a:pt x="767676" y="59426"/>
                      <a:pt x="767676" y="80875"/>
                    </a:cubicBezTo>
                    <a:lnTo>
                      <a:pt x="767676" y="111857"/>
                    </a:lnTo>
                    <a:cubicBezTo>
                      <a:pt x="767676" y="133307"/>
                      <a:pt x="759156" y="153877"/>
                      <a:pt x="743989" y="169044"/>
                    </a:cubicBezTo>
                    <a:cubicBezTo>
                      <a:pt x="728822" y="184212"/>
                      <a:pt x="708251" y="192732"/>
                      <a:pt x="686801" y="192732"/>
                    </a:cubicBezTo>
                    <a:lnTo>
                      <a:pt x="80875" y="192732"/>
                    </a:lnTo>
                    <a:cubicBezTo>
                      <a:pt x="59426" y="192732"/>
                      <a:pt x="38855" y="184212"/>
                      <a:pt x="23688" y="169044"/>
                    </a:cubicBezTo>
                    <a:cubicBezTo>
                      <a:pt x="8521" y="153877"/>
                      <a:pt x="0" y="133307"/>
                      <a:pt x="0" y="111857"/>
                    </a:cubicBezTo>
                    <a:lnTo>
                      <a:pt x="0" y="80875"/>
                    </a:lnTo>
                    <a:cubicBezTo>
                      <a:pt x="0" y="59426"/>
                      <a:pt x="8521" y="38855"/>
                      <a:pt x="23688" y="23688"/>
                    </a:cubicBezTo>
                    <a:cubicBezTo>
                      <a:pt x="38855" y="8521"/>
                      <a:pt x="59426" y="0"/>
                      <a:pt x="80875" y="0"/>
                    </a:cubicBezTo>
                    <a:close/>
                  </a:path>
                </a:pathLst>
              </a:custGeom>
              <a:solidFill>
                <a:srgbClr val="78AF95">
                  <a:alpha val="88627"/>
                </a:srgbClr>
              </a:solidFill>
              <a:ln w="38100" cap="rnd">
                <a:solidFill>
                  <a:srgbClr val="000000">
                    <a:alpha val="88627"/>
                  </a:srgbClr>
                </a:solidFill>
                <a:prstDash val="solid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66675"/>
                <a:ext cx="767676" cy="2594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3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76237" y="105788"/>
              <a:ext cx="3076598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1341C">
                      <a:alpha val="88627"/>
                    </a:srgbClr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Introduction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256025" y="72561"/>
            <a:ext cx="3141887" cy="784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8"/>
              </a:lnSpc>
              <a:spcBef>
                <a:spcPct val="0"/>
              </a:spcBef>
            </a:pPr>
            <a:r>
              <a:rPr lang="en-US" sz="4084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Background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71159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Conclusion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64311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Methods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41788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Results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30402" y="48385"/>
            <a:ext cx="2307449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1341C">
                    <a:alpha val="88627"/>
                  </a:srgbClr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Discussion</a:t>
            </a:r>
          </a:p>
        </p:txBody>
      </p:sp>
      <p:sp>
        <p:nvSpPr>
          <p:cNvPr name="Freeform 29" id="29" descr="pca_3d_arrows.png"/>
          <p:cNvSpPr/>
          <p:nvPr/>
        </p:nvSpPr>
        <p:spPr>
          <a:xfrm flipH="false" flipV="false" rot="0">
            <a:off x="7833437" y="2679801"/>
            <a:ext cx="8229600" cy="8229600"/>
          </a:xfrm>
          <a:custGeom>
            <a:avLst/>
            <a:gdLst/>
            <a:ahLst/>
            <a:cxnLst/>
            <a:rect r="r" b="b" t="t" l="l"/>
            <a:pathLst>
              <a:path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DAHG8yyqzTU</dc:identifier>
  <dcterms:modified xsi:type="dcterms:W3CDTF">2011-08-01T06:04:30Z</dcterms:modified>
  <cp:revision>1</cp:revision>
  <dc:title>Thesis Presentation</dc:title>
</cp:coreProperties>
</file>